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2194560"/>
            <a:ext cx="5486400" cy="5486400"/>
          </a:xfrm>
          <a:prstGeom prst="ellipse">
            <a:avLst/>
          </a:prstGeom>
          <a:solidFill>
            <a:srgbClr val="141A47"/>
          </a:solidFill>
        </p:spPr>
      </p:sp>
      <p:sp>
        <p:nvSpPr>
          <p:cNvPr id="3" name="Shape 1"/>
          <p:cNvSpPr/>
          <p:nvPr/>
        </p:nvSpPr>
        <p:spPr>
          <a:xfrm>
            <a:off x="10424160" y="4206240"/>
            <a:ext cx="3840480" cy="3840480"/>
          </a:xfrm>
          <a:prstGeom prst="ellipse">
            <a:avLst/>
          </a:prstGeom>
          <a:solidFill>
            <a:srgbClr val="141A47"/>
          </a:solidFill>
        </p:spPr>
      </p:sp>
      <p:sp>
        <p:nvSpPr>
          <p:cNvPr id="4" name="Text 2"/>
          <p:cNvSpPr/>
          <p:nvPr/>
        </p:nvSpPr>
        <p:spPr>
          <a:xfrm>
            <a:off x="640080" y="502920"/>
            <a:ext cx="10515600" cy="457200"/>
          </a:xfrm>
          <a:prstGeom prst="rect">
            <a:avLst/>
          </a:prstGeom>
          <a:noFill/>
        </p:spPr>
        <p:txBody>
          <a:bodyPr wrap="square" rtlCol="0" anchor="ctr"/>
          <a:lstStyle/>
          <a:p>
            <a:pPr marL="0" indent="0">
              <a:buNone/>
            </a:pPr>
            <a:r>
              <a:rPr lang="en-US" sz="1300" b="1" kern="0" spc="300" dirty="0">
                <a:solidFill>
                  <a:srgbClr val="00A896"/>
                </a:solidFill>
                <a:latin typeface="Calibri" panose="020F0502020204030204" pitchFamily="34" charset="0"/>
                <a:ea typeface="Calibri" panose="020F0502020204030204" pitchFamily="34" charset="-122"/>
                <a:cs typeface="Calibri" panose="020F0502020204030204" pitchFamily="34" charset="-120"/>
              </a:rPr>
              <a:t>AGENTIC GUARDRAIL</a:t>
            </a:r>
            <a:endParaRPr lang="en-US" sz="1300" dirty="0"/>
          </a:p>
        </p:txBody>
      </p:sp>
      <p:sp>
        <p:nvSpPr>
          <p:cNvPr id="5" name="Text 3"/>
          <p:cNvSpPr/>
          <p:nvPr/>
        </p:nvSpPr>
        <p:spPr>
          <a:xfrm>
            <a:off x="640080" y="868680"/>
            <a:ext cx="10789920" cy="91440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 Optimized Agentic Pipeline</a:t>
            </a:r>
            <a:endParaRPr lang="en-US" sz="3200" dirty="0"/>
          </a:p>
        </p:txBody>
      </p:sp>
      <p:sp>
        <p:nvSpPr>
          <p:cNvPr id="6" name="Text 4"/>
          <p:cNvSpPr/>
          <p:nvPr/>
        </p:nvSpPr>
        <p:spPr>
          <a:xfrm>
            <a:off x="640080" y="1536192"/>
            <a:ext cx="10515600" cy="457200"/>
          </a:xfrm>
          <a:prstGeom prst="rect">
            <a:avLst/>
          </a:prstGeom>
          <a:noFill/>
        </p:spPr>
        <p:txBody>
          <a:bodyPr wrap="square"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A Router / Classifier Approach to Safe Prompt Execution</a:t>
            </a:r>
            <a:endParaRPr lang="en-US" sz="1600" dirty="0"/>
          </a:p>
        </p:txBody>
      </p:sp>
      <p:sp>
        <p:nvSpPr>
          <p:cNvPr id="7" name="Shape 5"/>
          <p:cNvSpPr/>
          <p:nvPr/>
        </p:nvSpPr>
        <p:spPr>
          <a:xfrm>
            <a:off x="640080" y="2148840"/>
            <a:ext cx="2377440" cy="27432"/>
          </a:xfrm>
          <a:prstGeom prst="rect">
            <a:avLst/>
          </a:prstGeom>
          <a:solidFill>
            <a:srgbClr val="00A896"/>
          </a:solidFill>
        </p:spPr>
      </p:sp>
      <p:sp>
        <p:nvSpPr>
          <p:cNvPr id="8" name="Text 6"/>
          <p:cNvSpPr/>
          <p:nvPr/>
        </p:nvSpPr>
        <p:spPr>
          <a:xfrm>
            <a:off x="640080" y="2377440"/>
            <a:ext cx="5486400" cy="411480"/>
          </a:xfrm>
          <a:prstGeom prst="rect">
            <a:avLst/>
          </a:prstGeom>
          <a:noFill/>
        </p:spPr>
        <p:txBody>
          <a:bodyPr wrap="square" rtlCol="0" anchor="ctr"/>
          <a:lstStyle/>
          <a:p>
            <a:pPr marL="0" indent="0">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 Problem</a:t>
            </a:r>
            <a:endParaRPr lang="en-US" sz="2000" dirty="0"/>
          </a:p>
        </p:txBody>
      </p:sp>
      <p:sp>
        <p:nvSpPr>
          <p:cNvPr id="9" name="Text 7"/>
          <p:cNvSpPr/>
          <p:nvPr/>
        </p:nvSpPr>
        <p:spPr>
          <a:xfrm>
            <a:off x="640080" y="2880360"/>
            <a:ext cx="6126480" cy="1737360"/>
          </a:xfrm>
          <a:prstGeom prst="rect">
            <a:avLst/>
          </a:prstGeom>
          <a:noFill/>
        </p:spPr>
        <p:txBody>
          <a:bodyPr wrap="square" rtlCol="0" anchor="t"/>
          <a:lstStyle/>
          <a:p>
            <a:pPr marL="0" indent="0">
              <a:lnSpc>
                <a:spcPct val="125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Agentic AI systems turn a single prompt into multi-step actions, tool calls, retrieval, and downstream outputs. When the original prompt is ambiguous or disguises unsafe intent, the agent can proceed in ways that create real governance, safety, and compliance risk — and running every prompt through heavy safety checks slows the whole system down.</a:t>
            </a:r>
            <a:endParaRPr lang="en-US" sz="1350" dirty="0"/>
          </a:p>
        </p:txBody>
      </p:sp>
      <p:sp>
        <p:nvSpPr>
          <p:cNvPr id="10" name="Shape 8"/>
          <p:cNvSpPr/>
          <p:nvPr/>
        </p:nvSpPr>
        <p:spPr>
          <a:xfrm>
            <a:off x="640080" y="4572000"/>
            <a:ext cx="10881360" cy="1828800"/>
          </a:xfrm>
          <a:prstGeom prst="roundRect">
            <a:avLst>
              <a:gd name="adj" fmla="val 5000"/>
            </a:avLst>
          </a:prstGeom>
          <a:solidFill>
            <a:srgbClr val="141A47"/>
          </a:solidFill>
          <a:effectLst>
            <a:outerShdw blurRad="101600" dist="38100" dir="5400000" algn="bl" rotWithShape="0">
              <a:srgbClr val="000000">
                <a:alpha val="25000"/>
              </a:srgbClr>
            </a:outerShdw>
          </a:effectLst>
        </p:spPr>
      </p:sp>
      <p:sp>
        <p:nvSpPr>
          <p:cNvPr id="11" name="Text 9"/>
          <p:cNvSpPr/>
          <p:nvPr/>
        </p:nvSpPr>
        <p:spPr>
          <a:xfrm>
            <a:off x="960120" y="4754880"/>
            <a:ext cx="4572000" cy="365760"/>
          </a:xfrm>
          <a:prstGeom prst="rect">
            <a:avLst/>
          </a:prstGeom>
          <a:noFill/>
        </p:spPr>
        <p:txBody>
          <a:bodyPr wrap="square" rtlCol="0" anchor="ctr"/>
          <a:lstStyle/>
          <a:p>
            <a:pPr marL="0" indent="0">
              <a:buNone/>
            </a:pPr>
            <a:r>
              <a:rPr lang="en-US" sz="1400" b="1" dirty="0">
                <a:solidFill>
                  <a:srgbClr val="00A896"/>
                </a:solidFill>
                <a:latin typeface="Calibri" panose="020F0502020204030204" pitchFamily="34" charset="0"/>
                <a:ea typeface="Calibri" panose="020F0502020204030204" pitchFamily="34" charset="-122"/>
                <a:cs typeface="Calibri" panose="020F0502020204030204" pitchFamily="34" charset="-120"/>
              </a:rPr>
              <a:t>What's Needed</a:t>
            </a:r>
            <a:endParaRPr lang="en-US" sz="1400" dirty="0"/>
          </a:p>
        </p:txBody>
      </p:sp>
      <p:sp>
        <p:nvSpPr>
          <p:cNvPr id="12" name="Shape 10"/>
          <p:cNvSpPr/>
          <p:nvPr/>
        </p:nvSpPr>
        <p:spPr>
          <a:xfrm>
            <a:off x="960120" y="5212080"/>
            <a:ext cx="91440" cy="91440"/>
          </a:xfrm>
          <a:prstGeom prst="ellipse">
            <a:avLst/>
          </a:prstGeom>
          <a:solidFill>
            <a:srgbClr val="00A896"/>
          </a:solidFill>
        </p:spPr>
      </p:sp>
      <p:sp>
        <p:nvSpPr>
          <p:cNvPr id="13" name="Text 11"/>
          <p:cNvSpPr/>
          <p:nvPr/>
        </p:nvSpPr>
        <p:spPr>
          <a:xfrm>
            <a:off x="1216152" y="5093208"/>
            <a:ext cx="4937760" cy="457200"/>
          </a:xfrm>
          <a:prstGeom prst="rect">
            <a:avLst/>
          </a:prstGeom>
          <a:noFill/>
        </p:spPr>
        <p:txBody>
          <a:bodyPr wrap="square" rtlCol="0" anchor="t"/>
          <a:lstStyle/>
          <a:p>
            <a:pPr marL="0" indent="0">
              <a:buNone/>
            </a:pPr>
            <a:r>
              <a:rPr lang="en-US" sz="1150" dirty="0">
                <a:solidFill>
                  <a:srgbClr val="F7F9FC"/>
                </a:solidFill>
                <a:latin typeface="Calibri" panose="020F0502020204030204" pitchFamily="34" charset="0"/>
                <a:ea typeface="Calibri" panose="020F0502020204030204" pitchFamily="34" charset="-122"/>
                <a:cs typeface="Calibri" panose="020F0502020204030204" pitchFamily="34" charset="-120"/>
              </a:rPr>
              <a:t>Detect ambiguity and hidden or disguised risk before execution</a:t>
            </a:r>
            <a:endParaRPr lang="en-US" sz="1150" dirty="0"/>
          </a:p>
        </p:txBody>
      </p:sp>
      <p:sp>
        <p:nvSpPr>
          <p:cNvPr id="14" name="Shape 12"/>
          <p:cNvSpPr/>
          <p:nvPr/>
        </p:nvSpPr>
        <p:spPr>
          <a:xfrm>
            <a:off x="6309360" y="5212080"/>
            <a:ext cx="91440" cy="91440"/>
          </a:xfrm>
          <a:prstGeom prst="ellipse">
            <a:avLst/>
          </a:prstGeom>
          <a:solidFill>
            <a:srgbClr val="00A896"/>
          </a:solidFill>
        </p:spPr>
      </p:sp>
      <p:sp>
        <p:nvSpPr>
          <p:cNvPr id="15" name="Text 13"/>
          <p:cNvSpPr/>
          <p:nvPr/>
        </p:nvSpPr>
        <p:spPr>
          <a:xfrm>
            <a:off x="6565392" y="5093208"/>
            <a:ext cx="4937760" cy="457200"/>
          </a:xfrm>
          <a:prstGeom prst="rect">
            <a:avLst/>
          </a:prstGeom>
          <a:noFill/>
        </p:spPr>
        <p:txBody>
          <a:bodyPr wrap="square" rtlCol="0" anchor="t"/>
          <a:lstStyle/>
          <a:p>
            <a:pPr marL="0" indent="0">
              <a:buNone/>
            </a:pPr>
            <a:r>
              <a:rPr lang="en-US" sz="1150" dirty="0">
                <a:solidFill>
                  <a:srgbClr val="F7F9FC"/>
                </a:solidFill>
                <a:latin typeface="Calibri" panose="020F0502020204030204" pitchFamily="34" charset="0"/>
                <a:ea typeface="Calibri" panose="020F0502020204030204" pitchFamily="34" charset="-122"/>
                <a:cs typeface="Calibri" panose="020F0502020204030204" pitchFamily="34" charset="-120"/>
              </a:rPr>
              <a:t>Classify prompts fast, without slowing down the safe majority</a:t>
            </a:r>
            <a:endParaRPr lang="en-US" sz="1150" dirty="0"/>
          </a:p>
        </p:txBody>
      </p:sp>
      <p:sp>
        <p:nvSpPr>
          <p:cNvPr id="16" name="Shape 14"/>
          <p:cNvSpPr/>
          <p:nvPr/>
        </p:nvSpPr>
        <p:spPr>
          <a:xfrm>
            <a:off x="960120" y="5760720"/>
            <a:ext cx="91440" cy="91440"/>
          </a:xfrm>
          <a:prstGeom prst="ellipse">
            <a:avLst/>
          </a:prstGeom>
          <a:solidFill>
            <a:srgbClr val="00A896"/>
          </a:solidFill>
        </p:spPr>
      </p:sp>
      <p:sp>
        <p:nvSpPr>
          <p:cNvPr id="17" name="Text 15"/>
          <p:cNvSpPr/>
          <p:nvPr/>
        </p:nvSpPr>
        <p:spPr>
          <a:xfrm>
            <a:off x="1216152" y="5641848"/>
            <a:ext cx="4937760" cy="457200"/>
          </a:xfrm>
          <a:prstGeom prst="rect">
            <a:avLst/>
          </a:prstGeom>
          <a:noFill/>
        </p:spPr>
        <p:txBody>
          <a:bodyPr wrap="square" rtlCol="0" anchor="t"/>
          <a:lstStyle/>
          <a:p>
            <a:pPr marL="0" indent="0">
              <a:buNone/>
            </a:pPr>
            <a:r>
              <a:rPr lang="en-US" sz="1150" dirty="0">
                <a:solidFill>
                  <a:srgbClr val="F7F9FC"/>
                </a:solidFill>
                <a:latin typeface="Calibri" panose="020F0502020204030204" pitchFamily="34" charset="0"/>
                <a:ea typeface="Calibri" panose="020F0502020204030204" pitchFamily="34" charset="-122"/>
                <a:cs typeface="Calibri" panose="020F0502020204030204" pitchFamily="34" charset="-120"/>
              </a:rPr>
              <a:t>Rewrite risky intent into a safe query instead of just rejecting it</a:t>
            </a:r>
            <a:endParaRPr lang="en-US" sz="1150" dirty="0"/>
          </a:p>
        </p:txBody>
      </p:sp>
      <p:sp>
        <p:nvSpPr>
          <p:cNvPr id="18" name="Shape 16"/>
          <p:cNvSpPr/>
          <p:nvPr/>
        </p:nvSpPr>
        <p:spPr>
          <a:xfrm>
            <a:off x="6309360" y="5760720"/>
            <a:ext cx="91440" cy="91440"/>
          </a:xfrm>
          <a:prstGeom prst="ellipse">
            <a:avLst/>
          </a:prstGeom>
          <a:solidFill>
            <a:srgbClr val="00A896"/>
          </a:solidFill>
        </p:spPr>
      </p:sp>
      <p:sp>
        <p:nvSpPr>
          <p:cNvPr id="19" name="Text 17"/>
          <p:cNvSpPr/>
          <p:nvPr/>
        </p:nvSpPr>
        <p:spPr>
          <a:xfrm>
            <a:off x="6565392" y="5641848"/>
            <a:ext cx="4937760" cy="457200"/>
          </a:xfrm>
          <a:prstGeom prst="rect">
            <a:avLst/>
          </a:prstGeom>
          <a:noFill/>
        </p:spPr>
        <p:txBody>
          <a:bodyPr wrap="square" rtlCol="0" anchor="t"/>
          <a:lstStyle/>
          <a:p>
            <a:pPr marL="0" indent="0">
              <a:buNone/>
            </a:pPr>
            <a:r>
              <a:rPr lang="en-US" sz="1150" dirty="0">
                <a:solidFill>
                  <a:srgbClr val="F7F9FC"/>
                </a:solidFill>
                <a:latin typeface="Calibri" panose="020F0502020204030204" pitchFamily="34" charset="0"/>
                <a:ea typeface="Calibri" panose="020F0502020204030204" pitchFamily="34" charset="-122"/>
                <a:cs typeface="Calibri" panose="020F0502020204030204" pitchFamily="34" charset="-120"/>
              </a:rPr>
              <a:t>Validate every rewrite deterministically before the agent continues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p:spPr>
        <p:txBody>
          <a:bodyPr wrap="square" rtlCol="0" anchor="ctr"/>
          <a:lstStyle/>
          <a:p>
            <a:pPr marL="0" indent="0">
              <a:buNone/>
            </a:pPr>
            <a:r>
              <a:rPr lang="en-US" sz="1200" b="1" kern="0" spc="300" dirty="0">
                <a:solidFill>
                  <a:srgbClr val="00A896"/>
                </a:solidFill>
                <a:latin typeface="Calibri" panose="020F0502020204030204" pitchFamily="34" charset="0"/>
                <a:ea typeface="Calibri" panose="020F0502020204030204" pitchFamily="34" charset="-122"/>
                <a:cs typeface="Calibri" panose="020F0502020204030204" pitchFamily="34" charset="-120"/>
              </a:rPr>
              <a:t>SOLUTION OVERVIEW</a:t>
            </a:r>
            <a:endParaRPr lang="en-US" sz="1200" dirty="0"/>
          </a:p>
        </p:txBody>
      </p:sp>
      <p:sp>
        <p:nvSpPr>
          <p:cNvPr id="3" name="Text 1"/>
          <p:cNvSpPr/>
          <p:nvPr/>
        </p:nvSpPr>
        <p:spPr>
          <a:xfrm>
            <a:off x="640080" y="731520"/>
            <a:ext cx="10881360" cy="594360"/>
          </a:xfrm>
          <a:prstGeom prst="rect">
            <a:avLst/>
          </a:prstGeom>
          <a:noFill/>
        </p:spPr>
        <p:txBody>
          <a:bodyPr wrap="square" rtlCol="0" anchor="ctr"/>
          <a:lstStyle/>
          <a:p>
            <a:pPr marL="0" indent="0">
              <a:buNone/>
            </a:pPr>
            <a:r>
              <a:rPr lang="en-US" sz="2600" b="1" dirty="0">
                <a:solidFill>
                  <a:srgbClr val="1B2340"/>
                </a:solidFill>
                <a:latin typeface="Cambria" panose="02040503050406030204" pitchFamily="34" charset="0"/>
                <a:ea typeface="Cambria" panose="02040503050406030204" pitchFamily="34" charset="-122"/>
                <a:cs typeface="Cambria" panose="02040503050406030204" pitchFamily="34" charset="-120"/>
              </a:rPr>
              <a:t>Only Risky Prompts Pay the Heavy Cost</a:t>
            </a:r>
            <a:endParaRPr lang="en-US" sz="2600" dirty="0"/>
          </a:p>
        </p:txBody>
      </p:sp>
      <p:sp>
        <p:nvSpPr>
          <p:cNvPr id="4" name="Text 2"/>
          <p:cNvSpPr/>
          <p:nvPr/>
        </p:nvSpPr>
        <p:spPr>
          <a:xfrm>
            <a:off x="640080" y="1298448"/>
            <a:ext cx="10881360" cy="594360"/>
          </a:xfrm>
          <a:prstGeom prst="rect">
            <a:avLst/>
          </a:prstGeom>
          <a:noFill/>
        </p:spPr>
        <p:txBody>
          <a:bodyPr wrap="square" rtlCol="0" anchor="ctr"/>
          <a:lstStyle/>
          <a:p>
            <a:pPr marL="0" indent="0">
              <a:lnSpc>
                <a:spcPct val="120000"/>
              </a:lnSpc>
              <a:buNone/>
            </a:pPr>
            <a:r>
              <a:rPr lang="en-US" sz="1300" dirty="0">
                <a:solidFill>
                  <a:srgbClr val="5A6478"/>
                </a:solidFill>
                <a:latin typeface="Calibri" panose="020F0502020204030204" pitchFamily="34" charset="0"/>
                <a:ea typeface="Calibri" panose="020F0502020204030204" pitchFamily="34" charset="-122"/>
                <a:cs typeface="Calibri" panose="020F0502020204030204" pitchFamily="34" charset="-120"/>
              </a:rPr>
              <a:t>Instead of a straight line, the pipeline routes every prompt through a fast classifier first. Safe prompts skip straight to execution; risky or disguised prompts branch into a remediation loop that rewrites and re-validates them before they ever reach a tool call.</a:t>
            </a:r>
            <a:endParaRPr lang="en-US" sz="1300" dirty="0"/>
          </a:p>
        </p:txBody>
      </p:sp>
      <p:sp>
        <p:nvSpPr>
          <p:cNvPr id="5" name="Shape 3"/>
          <p:cNvSpPr/>
          <p:nvPr/>
        </p:nvSpPr>
        <p:spPr>
          <a:xfrm>
            <a:off x="640080" y="2103120"/>
            <a:ext cx="3566160" cy="4114800"/>
          </a:xfrm>
          <a:prstGeom prst="roundRect">
            <a:avLst>
              <a:gd name="adj" fmla="val 3077"/>
            </a:avLst>
          </a:prstGeom>
          <a:solidFill>
            <a:srgbClr val="1E2761"/>
          </a:solidFill>
          <a:effectLst>
            <a:outerShdw blurRad="127000" dist="38100" dir="5400000" algn="bl" rotWithShape="0">
              <a:srgbClr val="000000">
                <a:alpha val="20000"/>
              </a:srgbClr>
            </a:outerShdw>
          </a:effectLst>
        </p:spPr>
      </p:sp>
      <p:sp>
        <p:nvSpPr>
          <p:cNvPr id="6" name="Shape 4"/>
          <p:cNvSpPr/>
          <p:nvPr/>
        </p:nvSpPr>
        <p:spPr>
          <a:xfrm>
            <a:off x="1005840" y="2423160"/>
            <a:ext cx="502920" cy="502920"/>
          </a:xfrm>
          <a:prstGeom prst="ellipse">
            <a:avLst/>
          </a:prstGeom>
          <a:solidFill>
            <a:srgbClr val="00A896"/>
          </a:solidFill>
        </p:spPr>
      </p:sp>
      <p:sp>
        <p:nvSpPr>
          <p:cNvPr id="7" name="Text 5"/>
          <p:cNvSpPr/>
          <p:nvPr/>
        </p:nvSpPr>
        <p:spPr>
          <a:xfrm>
            <a:off x="1005840" y="2423160"/>
            <a:ext cx="502920" cy="502920"/>
          </a:xfrm>
          <a:prstGeom prst="rect">
            <a:avLst/>
          </a:prstGeom>
          <a:noFill/>
        </p:spPr>
        <p:txBody>
          <a:bodyPr wrap="square" rtlCol="0" anchor="ctr"/>
          <a:lstStyle/>
          <a:p>
            <a:pPr marL="0" indent="0" algn="ctr">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AI</a:t>
            </a:r>
            <a:endParaRPr lang="en-US" sz="1400" dirty="0"/>
          </a:p>
        </p:txBody>
      </p:sp>
      <p:sp>
        <p:nvSpPr>
          <p:cNvPr id="8" name="Text 6"/>
          <p:cNvSpPr/>
          <p:nvPr/>
        </p:nvSpPr>
        <p:spPr>
          <a:xfrm>
            <a:off x="914400" y="3044952"/>
            <a:ext cx="3017520" cy="365760"/>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Local Reasoning Engine</a:t>
            </a:r>
            <a:endParaRPr lang="en-US" sz="1400" dirty="0"/>
          </a:p>
        </p:txBody>
      </p:sp>
      <p:sp>
        <p:nvSpPr>
          <p:cNvPr id="9" name="Text 7"/>
          <p:cNvSpPr/>
          <p:nvPr/>
        </p:nvSpPr>
        <p:spPr>
          <a:xfrm>
            <a:off x="914400" y="3383280"/>
            <a:ext cx="3017520" cy="457200"/>
          </a:xfrm>
          <a:prstGeom prst="rect">
            <a:avLst/>
          </a:prstGeom>
          <a:noFill/>
        </p:spPr>
        <p:txBody>
          <a:bodyPr wrap="square" rtlCol="0" anchor="ctr"/>
          <a:lstStyle/>
          <a:p>
            <a:pPr marL="0" indent="0">
              <a:buNone/>
            </a:pPr>
            <a:r>
              <a:rPr lang="en-US" sz="2100" b="1" dirty="0">
                <a:solidFill>
                  <a:srgbClr val="00A896"/>
                </a:solidFill>
                <a:latin typeface="Cambria" panose="02040503050406030204" pitchFamily="34" charset="0"/>
                <a:ea typeface="Cambria" panose="02040503050406030204" pitchFamily="34" charset="-122"/>
                <a:cs typeface="Cambria" panose="02040503050406030204" pitchFamily="34" charset="-120"/>
              </a:rPr>
              <a:t>Ollama</a:t>
            </a:r>
            <a:endParaRPr lang="en-US" sz="2100" dirty="0"/>
          </a:p>
        </p:txBody>
      </p:sp>
      <p:sp>
        <p:nvSpPr>
          <p:cNvPr id="10" name="Text 8"/>
          <p:cNvSpPr/>
          <p:nvPr/>
        </p:nvSpPr>
        <p:spPr>
          <a:xfrm>
            <a:off x="914400" y="3886200"/>
            <a:ext cx="3017520" cy="1371600"/>
          </a:xfrm>
          <a:prstGeom prst="rect">
            <a:avLst/>
          </a:prstGeom>
          <a:noFill/>
        </p:spPr>
        <p:txBody>
          <a:bodyPr wrap="square" rtlCol="0" anchor="ctr"/>
          <a:lstStyle/>
          <a:p>
            <a:pPr marL="0" indent="0">
              <a:lnSpc>
                <a:spcPct val="125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A self-hosted, open-weight model served by Ollama powers the Threat Detector and the Intent Rewriter — the two agents that actually need reasoning, not just rules.</a:t>
            </a:r>
            <a:endParaRPr lang="en-US" sz="1150" dirty="0"/>
          </a:p>
        </p:txBody>
      </p:sp>
      <p:sp>
        <p:nvSpPr>
          <p:cNvPr id="11" name="Shape 9"/>
          <p:cNvSpPr/>
          <p:nvPr/>
        </p:nvSpPr>
        <p:spPr>
          <a:xfrm>
            <a:off x="911225" y="5257800"/>
            <a:ext cx="76200" cy="87630"/>
          </a:xfrm>
          <a:prstGeom prst="ellipse">
            <a:avLst/>
          </a:prstGeom>
          <a:solidFill>
            <a:srgbClr val="00A896"/>
          </a:solidFill>
        </p:spPr>
      </p:sp>
      <p:sp>
        <p:nvSpPr>
          <p:cNvPr id="12" name="Text 10"/>
          <p:cNvSpPr/>
          <p:nvPr/>
        </p:nvSpPr>
        <p:spPr>
          <a:xfrm>
            <a:off x="1097280" y="5095113"/>
            <a:ext cx="2834640" cy="320040"/>
          </a:xfrm>
          <a:prstGeom prst="rect">
            <a:avLst/>
          </a:prstGeom>
          <a:noFill/>
        </p:spPr>
        <p:txBody>
          <a:bodyPr wrap="square" rtlCol="0" anchor="ctr"/>
          <a:lstStyle/>
          <a:p>
            <a:pPr marL="0" indent="0">
              <a:buNone/>
            </a:pPr>
            <a:r>
              <a:rPr lang="en-US" sz="1100" dirty="0">
                <a:solidFill>
                  <a:srgbClr val="F7F9FC"/>
                </a:solidFill>
                <a:latin typeface="Calibri" panose="020F0502020204030204" pitchFamily="34" charset="0"/>
                <a:ea typeface="Calibri" panose="020F0502020204030204" pitchFamily="34" charset="-122"/>
                <a:cs typeface="Calibri" panose="020F0502020204030204" pitchFamily="34" charset="-120"/>
              </a:rPr>
              <a:t>No prompt data leaves the box</a:t>
            </a:r>
            <a:endParaRPr lang="en-US" sz="1100" dirty="0"/>
          </a:p>
        </p:txBody>
      </p:sp>
      <p:sp>
        <p:nvSpPr>
          <p:cNvPr id="13" name="Shape 11"/>
          <p:cNvSpPr/>
          <p:nvPr/>
        </p:nvSpPr>
        <p:spPr>
          <a:xfrm>
            <a:off x="911225" y="5518023"/>
            <a:ext cx="73152" cy="73152"/>
          </a:xfrm>
          <a:prstGeom prst="ellipse">
            <a:avLst/>
          </a:prstGeom>
          <a:solidFill>
            <a:srgbClr val="00A896"/>
          </a:solidFill>
        </p:spPr>
      </p:sp>
      <p:sp>
        <p:nvSpPr>
          <p:cNvPr id="14" name="Text 12"/>
          <p:cNvSpPr/>
          <p:nvPr/>
        </p:nvSpPr>
        <p:spPr>
          <a:xfrm>
            <a:off x="1143000" y="5395341"/>
            <a:ext cx="2834640" cy="320040"/>
          </a:xfrm>
          <a:prstGeom prst="rect">
            <a:avLst/>
          </a:prstGeom>
          <a:noFill/>
        </p:spPr>
        <p:txBody>
          <a:bodyPr wrap="square" rtlCol="0" anchor="ctr"/>
          <a:lstStyle/>
          <a:p>
            <a:pPr marL="0" indent="0">
              <a:buNone/>
            </a:pPr>
            <a:r>
              <a:rPr lang="en-US" sz="1100" dirty="0">
                <a:solidFill>
                  <a:srgbClr val="F7F9FC"/>
                </a:solidFill>
                <a:latin typeface="Calibri" panose="020F0502020204030204" pitchFamily="34" charset="0"/>
                <a:ea typeface="Calibri" panose="020F0502020204030204" pitchFamily="34" charset="-122"/>
                <a:cs typeface="Calibri" panose="020F0502020204030204" pitchFamily="34" charset="-120"/>
              </a:rPr>
              <a:t>Small model — low latency</a:t>
            </a:r>
            <a:endParaRPr lang="en-US" sz="1100" dirty="0"/>
          </a:p>
        </p:txBody>
      </p:sp>
      <p:sp>
        <p:nvSpPr>
          <p:cNvPr id="15" name="Shape 13"/>
          <p:cNvSpPr/>
          <p:nvPr/>
        </p:nvSpPr>
        <p:spPr>
          <a:xfrm>
            <a:off x="914400" y="5897626"/>
            <a:ext cx="73152" cy="73152"/>
          </a:xfrm>
          <a:prstGeom prst="ellipse">
            <a:avLst/>
          </a:prstGeom>
          <a:solidFill>
            <a:srgbClr val="00A896"/>
          </a:solidFill>
        </p:spPr>
      </p:sp>
      <p:sp>
        <p:nvSpPr>
          <p:cNvPr id="16" name="Text 14"/>
          <p:cNvSpPr/>
          <p:nvPr/>
        </p:nvSpPr>
        <p:spPr>
          <a:xfrm>
            <a:off x="1109345" y="5733669"/>
            <a:ext cx="2834640" cy="320040"/>
          </a:xfrm>
          <a:prstGeom prst="rect">
            <a:avLst/>
          </a:prstGeom>
          <a:noFill/>
        </p:spPr>
        <p:txBody>
          <a:bodyPr wrap="square" rtlCol="0" anchor="ctr"/>
          <a:lstStyle/>
          <a:p>
            <a:pPr marL="0" indent="0">
              <a:buNone/>
            </a:pPr>
            <a:r>
              <a:rPr lang="en-US" sz="1100" dirty="0">
                <a:solidFill>
                  <a:srgbClr val="F7F9FC"/>
                </a:solidFill>
                <a:latin typeface="Calibri" panose="020F0502020204030204" pitchFamily="34" charset="0"/>
                <a:ea typeface="Calibri" panose="020F0502020204030204" pitchFamily="34" charset="-122"/>
                <a:cs typeface="Calibri" panose="020F0502020204030204" pitchFamily="34" charset="-120"/>
              </a:rPr>
              <a:t>Swappable for any Ollama model</a:t>
            </a:r>
            <a:endParaRPr lang="en-US" sz="1100" dirty="0"/>
          </a:p>
        </p:txBody>
      </p:sp>
      <p:sp>
        <p:nvSpPr>
          <p:cNvPr id="17" name="Shape 15"/>
          <p:cNvSpPr/>
          <p:nvPr/>
        </p:nvSpPr>
        <p:spPr>
          <a:xfrm>
            <a:off x="4480560" y="2103120"/>
            <a:ext cx="3429000" cy="1874520"/>
          </a:xfrm>
          <a:prstGeom prst="roundRect">
            <a:avLst>
              <a:gd name="adj" fmla="val 4878"/>
            </a:avLst>
          </a:prstGeom>
          <a:solidFill>
            <a:srgbClr val="FFFFFF"/>
          </a:solidFill>
          <a:ln w="12700">
            <a:solidFill>
              <a:srgbClr val="E3E8F0"/>
            </a:solidFill>
            <a:prstDash val="solid"/>
          </a:ln>
          <a:effectLst>
            <a:outerShdw blurRad="101600" dist="25400" dir="5400000" algn="bl" rotWithShape="0">
              <a:srgbClr val="1E2761">
                <a:alpha val="10000"/>
              </a:srgbClr>
            </a:outerShdw>
          </a:effectLst>
        </p:spPr>
      </p:sp>
      <p:sp>
        <p:nvSpPr>
          <p:cNvPr id="18" name="Shape 16"/>
          <p:cNvSpPr/>
          <p:nvPr/>
        </p:nvSpPr>
        <p:spPr>
          <a:xfrm>
            <a:off x="4709160" y="2331720"/>
            <a:ext cx="411480" cy="411480"/>
          </a:xfrm>
          <a:prstGeom prst="ellipse">
            <a:avLst/>
          </a:prstGeom>
          <a:solidFill>
            <a:srgbClr val="00A896"/>
          </a:solidFill>
        </p:spPr>
      </p:sp>
      <p:sp>
        <p:nvSpPr>
          <p:cNvPr id="19" name="Text 17"/>
          <p:cNvSpPr/>
          <p:nvPr/>
        </p:nvSpPr>
        <p:spPr>
          <a:xfrm>
            <a:off x="4709160" y="2331720"/>
            <a:ext cx="411480" cy="41148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20" name="Text 18"/>
          <p:cNvSpPr/>
          <p:nvPr/>
        </p:nvSpPr>
        <p:spPr>
          <a:xfrm>
            <a:off x="5257800" y="2304288"/>
            <a:ext cx="2423160" cy="365760"/>
          </a:xfrm>
          <a:prstGeom prst="rect">
            <a:avLst/>
          </a:prstGeom>
          <a:noFill/>
        </p:spPr>
        <p:txBody>
          <a:bodyPr wrap="square" rtlCol="0" anchor="ctr"/>
          <a:lstStyle/>
          <a:p>
            <a:pPr marL="0" indent="0">
              <a:buNone/>
            </a:pPr>
            <a:r>
              <a:rPr lang="en-US" sz="1450" b="1" dirty="0">
                <a:solidFill>
                  <a:srgbClr val="1B2340"/>
                </a:solidFill>
                <a:latin typeface="Calibri" panose="020F0502020204030204" pitchFamily="34" charset="0"/>
                <a:ea typeface="Calibri" panose="020F0502020204030204" pitchFamily="34" charset="-122"/>
                <a:cs typeface="Calibri" panose="020F0502020204030204" pitchFamily="34" charset="-120"/>
              </a:rPr>
              <a:t>Fast Triage</a:t>
            </a:r>
            <a:endParaRPr lang="en-US" sz="1450" dirty="0"/>
          </a:p>
        </p:txBody>
      </p:sp>
      <p:sp>
        <p:nvSpPr>
          <p:cNvPr id="21" name="Text 19"/>
          <p:cNvSpPr/>
          <p:nvPr/>
        </p:nvSpPr>
        <p:spPr>
          <a:xfrm>
            <a:off x="4709160" y="2880360"/>
            <a:ext cx="2971800" cy="1005840"/>
          </a:xfrm>
          <a:prstGeom prst="rect">
            <a:avLst/>
          </a:prstGeom>
          <a:noFill/>
        </p:spPr>
        <p:txBody>
          <a:bodyPr wrap="square" rtlCol="0" anchor="t"/>
          <a:lstStyle/>
          <a:p>
            <a:pPr marL="0" indent="0">
              <a:lnSpc>
                <a:spcPct val="125000"/>
              </a:lnSpc>
              <a:buNone/>
            </a:pPr>
            <a:r>
              <a:rPr lang="en-US" sz="1150" dirty="0">
                <a:solidFill>
                  <a:srgbClr val="5A6478"/>
                </a:solidFill>
                <a:latin typeface="Calibri" panose="020F0502020204030204" pitchFamily="34" charset="0"/>
                <a:ea typeface="Calibri" panose="020F0502020204030204" pitchFamily="34" charset="-122"/>
                <a:cs typeface="Calibri" panose="020F0502020204030204" pitchFamily="34" charset="-120"/>
              </a:rPr>
              <a:t>Lightweight metadata parsing and signature matching filter obvious cases before any LLM call.</a:t>
            </a:r>
            <a:endParaRPr lang="en-US" sz="1150" dirty="0"/>
          </a:p>
        </p:txBody>
      </p:sp>
      <p:sp>
        <p:nvSpPr>
          <p:cNvPr id="22" name="Shape 20"/>
          <p:cNvSpPr/>
          <p:nvPr/>
        </p:nvSpPr>
        <p:spPr>
          <a:xfrm>
            <a:off x="8183880" y="2103120"/>
            <a:ext cx="3429000" cy="1874520"/>
          </a:xfrm>
          <a:prstGeom prst="roundRect">
            <a:avLst>
              <a:gd name="adj" fmla="val 4878"/>
            </a:avLst>
          </a:prstGeom>
          <a:solidFill>
            <a:srgbClr val="FFFFFF"/>
          </a:solidFill>
          <a:ln w="12700">
            <a:solidFill>
              <a:srgbClr val="E3E8F0"/>
            </a:solidFill>
            <a:prstDash val="solid"/>
          </a:ln>
          <a:effectLst>
            <a:outerShdw blurRad="101600" dist="25400" dir="5400000" algn="bl" rotWithShape="0">
              <a:srgbClr val="1E2761">
                <a:alpha val="10000"/>
              </a:srgbClr>
            </a:outerShdw>
          </a:effectLst>
        </p:spPr>
      </p:sp>
      <p:sp>
        <p:nvSpPr>
          <p:cNvPr id="23" name="Shape 21"/>
          <p:cNvSpPr/>
          <p:nvPr/>
        </p:nvSpPr>
        <p:spPr>
          <a:xfrm>
            <a:off x="8412480" y="2331720"/>
            <a:ext cx="411480" cy="411480"/>
          </a:xfrm>
          <a:prstGeom prst="ellipse">
            <a:avLst/>
          </a:prstGeom>
          <a:solidFill>
            <a:srgbClr val="00A896"/>
          </a:solidFill>
        </p:spPr>
      </p:sp>
      <p:sp>
        <p:nvSpPr>
          <p:cNvPr id="24" name="Text 22"/>
          <p:cNvSpPr/>
          <p:nvPr/>
        </p:nvSpPr>
        <p:spPr>
          <a:xfrm>
            <a:off x="8412480" y="2331720"/>
            <a:ext cx="411480" cy="41148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25" name="Text 23"/>
          <p:cNvSpPr/>
          <p:nvPr/>
        </p:nvSpPr>
        <p:spPr>
          <a:xfrm>
            <a:off x="8961120" y="2304288"/>
            <a:ext cx="2423160" cy="365760"/>
          </a:xfrm>
          <a:prstGeom prst="rect">
            <a:avLst/>
          </a:prstGeom>
          <a:noFill/>
        </p:spPr>
        <p:txBody>
          <a:bodyPr wrap="square" rtlCol="0" anchor="ctr"/>
          <a:lstStyle/>
          <a:p>
            <a:pPr marL="0" indent="0">
              <a:buNone/>
            </a:pPr>
            <a:r>
              <a:rPr lang="en-US" sz="1450" b="1" dirty="0">
                <a:solidFill>
                  <a:srgbClr val="1B2340"/>
                </a:solidFill>
                <a:latin typeface="Calibri" panose="020F0502020204030204" pitchFamily="34" charset="0"/>
                <a:ea typeface="Calibri" panose="020F0502020204030204" pitchFamily="34" charset="-122"/>
                <a:cs typeface="Calibri" panose="020F0502020204030204" pitchFamily="34" charset="-120"/>
              </a:rPr>
              <a:t>Disguise Detection</a:t>
            </a:r>
            <a:endParaRPr lang="en-US" sz="1450" dirty="0"/>
          </a:p>
        </p:txBody>
      </p:sp>
      <p:sp>
        <p:nvSpPr>
          <p:cNvPr id="26" name="Text 24"/>
          <p:cNvSpPr/>
          <p:nvPr/>
        </p:nvSpPr>
        <p:spPr>
          <a:xfrm>
            <a:off x="8412480" y="2880360"/>
            <a:ext cx="2971800" cy="1005840"/>
          </a:xfrm>
          <a:prstGeom prst="rect">
            <a:avLst/>
          </a:prstGeom>
          <a:noFill/>
        </p:spPr>
        <p:txBody>
          <a:bodyPr wrap="square" rtlCol="0" anchor="t"/>
          <a:lstStyle/>
          <a:p>
            <a:pPr marL="0" indent="0">
              <a:lnSpc>
                <a:spcPct val="125000"/>
              </a:lnSpc>
              <a:buNone/>
            </a:pPr>
            <a:r>
              <a:rPr lang="en-US" sz="1150" dirty="0">
                <a:solidFill>
                  <a:srgbClr val="5A6478"/>
                </a:solidFill>
                <a:latin typeface="Calibri" panose="020F0502020204030204" pitchFamily="34" charset="0"/>
                <a:ea typeface="Calibri" panose="020F0502020204030204" pitchFamily="34" charset="-122"/>
                <a:cs typeface="Calibri" panose="020F0502020204030204" pitchFamily="34" charset="-120"/>
              </a:rPr>
              <a:t>Catches jailbreaks, encoded payloads, roleplay exploits, and split-request attacks.</a:t>
            </a:r>
            <a:endParaRPr lang="en-US" sz="1150" dirty="0"/>
          </a:p>
        </p:txBody>
      </p:sp>
      <p:sp>
        <p:nvSpPr>
          <p:cNvPr id="27" name="Shape 25"/>
          <p:cNvSpPr/>
          <p:nvPr/>
        </p:nvSpPr>
        <p:spPr>
          <a:xfrm>
            <a:off x="4480560" y="4251960"/>
            <a:ext cx="3429000" cy="1874520"/>
          </a:xfrm>
          <a:prstGeom prst="roundRect">
            <a:avLst>
              <a:gd name="adj" fmla="val 4878"/>
            </a:avLst>
          </a:prstGeom>
          <a:solidFill>
            <a:srgbClr val="FFFFFF"/>
          </a:solidFill>
          <a:ln w="12700">
            <a:solidFill>
              <a:srgbClr val="E3E8F0"/>
            </a:solidFill>
            <a:prstDash val="solid"/>
          </a:ln>
          <a:effectLst>
            <a:outerShdw blurRad="101600" dist="25400" dir="5400000" algn="bl" rotWithShape="0">
              <a:srgbClr val="1E2761">
                <a:alpha val="10000"/>
              </a:srgbClr>
            </a:outerShdw>
          </a:effectLst>
        </p:spPr>
      </p:sp>
      <p:sp>
        <p:nvSpPr>
          <p:cNvPr id="28" name="Shape 26"/>
          <p:cNvSpPr/>
          <p:nvPr/>
        </p:nvSpPr>
        <p:spPr>
          <a:xfrm>
            <a:off x="4709160" y="4480560"/>
            <a:ext cx="411480" cy="411480"/>
          </a:xfrm>
          <a:prstGeom prst="ellipse">
            <a:avLst/>
          </a:prstGeom>
          <a:solidFill>
            <a:srgbClr val="00A896"/>
          </a:solidFill>
        </p:spPr>
      </p:sp>
      <p:sp>
        <p:nvSpPr>
          <p:cNvPr id="29" name="Text 27"/>
          <p:cNvSpPr/>
          <p:nvPr/>
        </p:nvSpPr>
        <p:spPr>
          <a:xfrm>
            <a:off x="4709160" y="4480560"/>
            <a:ext cx="411480" cy="41148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30" name="Text 28"/>
          <p:cNvSpPr/>
          <p:nvPr/>
        </p:nvSpPr>
        <p:spPr>
          <a:xfrm>
            <a:off x="5257800" y="4453128"/>
            <a:ext cx="2423160" cy="365760"/>
          </a:xfrm>
          <a:prstGeom prst="rect">
            <a:avLst/>
          </a:prstGeom>
          <a:noFill/>
        </p:spPr>
        <p:txBody>
          <a:bodyPr wrap="square" rtlCol="0" anchor="ctr"/>
          <a:lstStyle/>
          <a:p>
            <a:pPr marL="0" indent="0">
              <a:buNone/>
            </a:pPr>
            <a:r>
              <a:rPr lang="en-US" sz="1450" b="1" dirty="0">
                <a:solidFill>
                  <a:srgbClr val="1B2340"/>
                </a:solidFill>
                <a:latin typeface="Calibri" panose="020F0502020204030204" pitchFamily="34" charset="0"/>
                <a:ea typeface="Calibri" panose="020F0502020204030204" pitchFamily="34" charset="-122"/>
                <a:cs typeface="Calibri" panose="020F0502020204030204" pitchFamily="34" charset="-120"/>
              </a:rPr>
              <a:t>Rewrite, Don't Reject</a:t>
            </a:r>
            <a:endParaRPr lang="en-US" sz="1450" dirty="0"/>
          </a:p>
        </p:txBody>
      </p:sp>
      <p:sp>
        <p:nvSpPr>
          <p:cNvPr id="31" name="Text 29"/>
          <p:cNvSpPr/>
          <p:nvPr/>
        </p:nvSpPr>
        <p:spPr>
          <a:xfrm>
            <a:off x="4709160" y="5029200"/>
            <a:ext cx="2971800" cy="1005840"/>
          </a:xfrm>
          <a:prstGeom prst="rect">
            <a:avLst/>
          </a:prstGeom>
          <a:noFill/>
        </p:spPr>
        <p:txBody>
          <a:bodyPr wrap="square" rtlCol="0" anchor="t"/>
          <a:lstStyle/>
          <a:p>
            <a:pPr marL="0" indent="0">
              <a:lnSpc>
                <a:spcPct val="125000"/>
              </a:lnSpc>
              <a:buNone/>
            </a:pPr>
            <a:r>
              <a:rPr lang="en-US" sz="1150" dirty="0">
                <a:solidFill>
                  <a:srgbClr val="5A6478"/>
                </a:solidFill>
                <a:latin typeface="Calibri" panose="020F0502020204030204" pitchFamily="34" charset="0"/>
                <a:ea typeface="Calibri" panose="020F0502020204030204" pitchFamily="34" charset="-122"/>
                <a:cs typeface="Calibri" panose="020F0502020204030204" pitchFamily="34" charset="-120"/>
              </a:rPr>
              <a:t>Extracts the benign intent behind a risky prompt and reframes it as a safe query.</a:t>
            </a:r>
            <a:endParaRPr lang="en-US" sz="1150" dirty="0"/>
          </a:p>
        </p:txBody>
      </p:sp>
      <p:sp>
        <p:nvSpPr>
          <p:cNvPr id="32" name="Shape 30"/>
          <p:cNvSpPr/>
          <p:nvPr/>
        </p:nvSpPr>
        <p:spPr>
          <a:xfrm>
            <a:off x="8183880" y="4251960"/>
            <a:ext cx="3429000" cy="1874520"/>
          </a:xfrm>
          <a:prstGeom prst="roundRect">
            <a:avLst>
              <a:gd name="adj" fmla="val 4878"/>
            </a:avLst>
          </a:prstGeom>
          <a:solidFill>
            <a:srgbClr val="FFFFFF"/>
          </a:solidFill>
          <a:ln w="12700">
            <a:solidFill>
              <a:srgbClr val="E3E8F0"/>
            </a:solidFill>
            <a:prstDash val="solid"/>
          </a:ln>
          <a:effectLst>
            <a:outerShdw blurRad="101600" dist="25400" dir="5400000" algn="bl" rotWithShape="0">
              <a:srgbClr val="1E2761">
                <a:alpha val="10000"/>
              </a:srgbClr>
            </a:outerShdw>
          </a:effectLst>
        </p:spPr>
      </p:sp>
      <p:sp>
        <p:nvSpPr>
          <p:cNvPr id="33" name="Shape 31"/>
          <p:cNvSpPr/>
          <p:nvPr/>
        </p:nvSpPr>
        <p:spPr>
          <a:xfrm>
            <a:off x="8412480" y="4480560"/>
            <a:ext cx="411480" cy="411480"/>
          </a:xfrm>
          <a:prstGeom prst="ellipse">
            <a:avLst/>
          </a:prstGeom>
          <a:solidFill>
            <a:srgbClr val="00A896"/>
          </a:solidFill>
        </p:spPr>
      </p:sp>
      <p:sp>
        <p:nvSpPr>
          <p:cNvPr id="34" name="Text 32"/>
          <p:cNvSpPr/>
          <p:nvPr/>
        </p:nvSpPr>
        <p:spPr>
          <a:xfrm>
            <a:off x="8412480" y="4480560"/>
            <a:ext cx="411480" cy="41148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35" name="Text 33"/>
          <p:cNvSpPr/>
          <p:nvPr/>
        </p:nvSpPr>
        <p:spPr>
          <a:xfrm>
            <a:off x="8961120" y="4453128"/>
            <a:ext cx="2423160" cy="365760"/>
          </a:xfrm>
          <a:prstGeom prst="rect">
            <a:avLst/>
          </a:prstGeom>
          <a:noFill/>
        </p:spPr>
        <p:txBody>
          <a:bodyPr wrap="square" rtlCol="0" anchor="ctr"/>
          <a:lstStyle/>
          <a:p>
            <a:pPr marL="0" indent="0">
              <a:buNone/>
            </a:pPr>
            <a:r>
              <a:rPr lang="en-US" sz="1450" b="1" dirty="0">
                <a:solidFill>
                  <a:srgbClr val="1B2340"/>
                </a:solidFill>
                <a:latin typeface="Calibri" panose="020F0502020204030204" pitchFamily="34" charset="0"/>
                <a:ea typeface="Calibri" panose="020F0502020204030204" pitchFamily="34" charset="-122"/>
                <a:cs typeface="Calibri" panose="020F0502020204030204" pitchFamily="34" charset="-120"/>
              </a:rPr>
              <a:t>Deterministic Validation</a:t>
            </a:r>
            <a:endParaRPr lang="en-US" sz="1450" dirty="0"/>
          </a:p>
        </p:txBody>
      </p:sp>
      <p:sp>
        <p:nvSpPr>
          <p:cNvPr id="36" name="Text 34"/>
          <p:cNvSpPr/>
          <p:nvPr/>
        </p:nvSpPr>
        <p:spPr>
          <a:xfrm>
            <a:off x="8412480" y="5029200"/>
            <a:ext cx="2971800" cy="1005840"/>
          </a:xfrm>
          <a:prstGeom prst="rect">
            <a:avLst/>
          </a:prstGeom>
          <a:noFill/>
        </p:spPr>
        <p:txBody>
          <a:bodyPr wrap="square" rtlCol="0" anchor="t"/>
          <a:lstStyle/>
          <a:p>
            <a:pPr marL="0" indent="0">
              <a:lnSpc>
                <a:spcPct val="125000"/>
              </a:lnSpc>
              <a:buNone/>
            </a:pPr>
            <a:r>
              <a:rPr lang="en-US" sz="1150" dirty="0">
                <a:solidFill>
                  <a:srgbClr val="5A6478"/>
                </a:solidFill>
                <a:latin typeface="Calibri" panose="020F0502020204030204" pitchFamily="34" charset="0"/>
                <a:ea typeface="Calibri" panose="020F0502020204030204" pitchFamily="34" charset="-122"/>
                <a:cs typeface="Calibri" panose="020F0502020204030204" pitchFamily="34" charset="-120"/>
              </a:rPr>
              <a:t>A policy-as-code check confirms the rewrite before it's allowed to execute.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109855"/>
            <a:ext cx="7315200" cy="292608"/>
          </a:xfrm>
          <a:prstGeom prst="rect">
            <a:avLst/>
          </a:prstGeom>
          <a:noFill/>
        </p:spPr>
        <p:txBody>
          <a:bodyPr wrap="square" rtlCol="0" anchor="ctr"/>
          <a:lstStyle/>
          <a:p>
            <a:pPr marL="0" indent="0">
              <a:buNone/>
            </a:pPr>
            <a:r>
              <a:rPr lang="en-US" sz="1200" b="1" kern="0" spc="300" dirty="0">
                <a:solidFill>
                  <a:srgbClr val="00A896"/>
                </a:solidFill>
                <a:latin typeface="Calibri" panose="020F0502020204030204" pitchFamily="34" charset="0"/>
                <a:ea typeface="Calibri" panose="020F0502020204030204" pitchFamily="34" charset="-122"/>
                <a:cs typeface="Calibri" panose="020F0502020204030204" pitchFamily="34" charset="-120"/>
              </a:rPr>
              <a:t>THE PIPELINE</a:t>
            </a:r>
            <a:endParaRPr lang="en-US" sz="1200" dirty="0"/>
          </a:p>
        </p:txBody>
      </p:sp>
      <p:sp>
        <p:nvSpPr>
          <p:cNvPr id="3" name="Text 1"/>
          <p:cNvSpPr/>
          <p:nvPr/>
        </p:nvSpPr>
        <p:spPr>
          <a:xfrm>
            <a:off x="640080" y="320040"/>
            <a:ext cx="10881360" cy="411480"/>
          </a:xfrm>
          <a:prstGeom prst="rect">
            <a:avLst/>
          </a:prstGeom>
          <a:noFill/>
        </p:spPr>
        <p:txBody>
          <a:bodyPr wrap="square" rtlCol="0" anchor="ctr"/>
          <a:lstStyle/>
          <a:p>
            <a:pPr marL="0" indent="0">
              <a:buNone/>
            </a:pPr>
            <a:r>
              <a:rPr lang="en-US" sz="2100" b="1" dirty="0">
                <a:solidFill>
                  <a:srgbClr val="1B2340"/>
                </a:solidFill>
                <a:latin typeface="Cambria" panose="02040503050406030204" pitchFamily="34" charset="0"/>
                <a:ea typeface="Cambria" panose="02040503050406030204" pitchFamily="34" charset="-122"/>
                <a:cs typeface="Cambria" panose="02040503050406030204" pitchFamily="34" charset="-120"/>
              </a:rPr>
              <a:t>Safe Prompts Skip the Line — Risky Ones Loop Back</a:t>
            </a:r>
            <a:endParaRPr lang="en-US" sz="2100" dirty="0"/>
          </a:p>
        </p:txBody>
      </p:sp>
      <p:sp>
        <p:nvSpPr>
          <p:cNvPr id="4" name="Shape 2"/>
          <p:cNvSpPr/>
          <p:nvPr/>
        </p:nvSpPr>
        <p:spPr>
          <a:xfrm>
            <a:off x="4937760" y="777240"/>
            <a:ext cx="2286000" cy="384048"/>
          </a:xfrm>
          <a:prstGeom prst="roundRect">
            <a:avLst>
              <a:gd name="adj" fmla="val 19048"/>
            </a:avLst>
          </a:prstGeom>
          <a:solidFill>
            <a:srgbClr val="1E2761"/>
          </a:solidFill>
          <a:ln w="12700">
            <a:solidFill>
              <a:srgbClr val="E3E8F0"/>
            </a:solidFill>
            <a:prstDash val="solid"/>
          </a:ln>
          <a:effectLst>
            <a:outerShdw blurRad="76200" dist="25400" dir="5400000" algn="bl" rotWithShape="0">
              <a:srgbClr val="1E2761">
                <a:alpha val="10000"/>
              </a:srgbClr>
            </a:outerShdw>
          </a:effectLst>
        </p:spPr>
      </p:sp>
      <p:sp>
        <p:nvSpPr>
          <p:cNvPr id="5" name="Text 3"/>
          <p:cNvSpPr/>
          <p:nvPr/>
        </p:nvSpPr>
        <p:spPr>
          <a:xfrm>
            <a:off x="4937760" y="777240"/>
            <a:ext cx="2286000" cy="384048"/>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User Prompt</a:t>
            </a:r>
            <a:endParaRPr lang="en-US" sz="1250" dirty="0"/>
          </a:p>
        </p:txBody>
      </p:sp>
      <p:sp>
        <p:nvSpPr>
          <p:cNvPr id="6" name="Shape 4"/>
          <p:cNvSpPr/>
          <p:nvPr/>
        </p:nvSpPr>
        <p:spPr>
          <a:xfrm>
            <a:off x="6080760" y="1161288"/>
            <a:ext cx="9144" cy="164592"/>
          </a:xfrm>
          <a:prstGeom prst="line">
            <a:avLst/>
          </a:prstGeom>
          <a:noFill/>
          <a:ln w="19050">
            <a:solidFill>
              <a:srgbClr val="5A6478"/>
            </a:solidFill>
            <a:prstDash val="solid"/>
            <a:tailEnd type="triangle"/>
          </a:ln>
        </p:spPr>
      </p:sp>
      <p:sp>
        <p:nvSpPr>
          <p:cNvPr id="7" name="Shape 5"/>
          <p:cNvSpPr/>
          <p:nvPr/>
        </p:nvSpPr>
        <p:spPr>
          <a:xfrm>
            <a:off x="4343400" y="1325880"/>
            <a:ext cx="3474720" cy="566928"/>
          </a:xfrm>
          <a:prstGeom prst="roundRect">
            <a:avLst>
              <a:gd name="adj" fmla="val 12903"/>
            </a:avLst>
          </a:prstGeom>
          <a:solidFill>
            <a:srgbClr val="FFFFFF"/>
          </a:solidFill>
          <a:ln w="12700">
            <a:solidFill>
              <a:srgbClr val="E3E8F0"/>
            </a:solidFill>
            <a:prstDash val="solid"/>
          </a:ln>
          <a:effectLst>
            <a:outerShdw blurRad="76200" dist="25400" dir="5400000" algn="bl" rotWithShape="0">
              <a:srgbClr val="1E2761">
                <a:alpha val="10000"/>
              </a:srgbClr>
            </a:outerShdw>
          </a:effectLst>
        </p:spPr>
      </p:sp>
      <p:sp>
        <p:nvSpPr>
          <p:cNvPr id="8" name="Text 6"/>
          <p:cNvSpPr/>
          <p:nvPr/>
        </p:nvSpPr>
        <p:spPr>
          <a:xfrm>
            <a:off x="4507992" y="1298702"/>
            <a:ext cx="3145536" cy="292608"/>
          </a:xfrm>
          <a:prstGeom prst="rect">
            <a:avLst/>
          </a:prstGeom>
          <a:noFill/>
        </p:spPr>
        <p:txBody>
          <a:bodyPr wrap="square" rtlCol="0" anchor="t"/>
          <a:lstStyle/>
          <a:p>
            <a:pPr marL="0" indent="0">
              <a:buNone/>
            </a:pPr>
            <a:r>
              <a:rPr lang="en-US" sz="1250" b="1" dirty="0">
                <a:solidFill>
                  <a:srgbClr val="1B2340"/>
                </a:solidFill>
                <a:latin typeface="Calibri" panose="020F0502020204030204" pitchFamily="34" charset="0"/>
                <a:ea typeface="Calibri" panose="020F0502020204030204" pitchFamily="34" charset="-122"/>
                <a:cs typeface="Calibri" panose="020F0502020204030204" pitchFamily="34" charset="-120"/>
              </a:rPr>
              <a:t>1. Intent &amp; Context Ingestion</a:t>
            </a:r>
            <a:endParaRPr lang="en-US" sz="1250" dirty="0"/>
          </a:p>
        </p:txBody>
      </p:sp>
      <p:sp>
        <p:nvSpPr>
          <p:cNvPr id="9" name="Text 7"/>
          <p:cNvSpPr/>
          <p:nvPr/>
        </p:nvSpPr>
        <p:spPr>
          <a:xfrm>
            <a:off x="4507992" y="1477010"/>
            <a:ext cx="3145536" cy="146304"/>
          </a:xfrm>
          <a:prstGeom prst="rect">
            <a:avLst/>
          </a:prstGeom>
          <a:noFill/>
        </p:spPr>
        <p:txBody>
          <a:bodyPr wrap="square" rtlCol="0" anchor="t"/>
          <a:lstStyle/>
          <a:p>
            <a:pPr marL="0" indent="0">
              <a:lnSpc>
                <a:spcPct val="112000"/>
              </a:lnSpc>
              <a:buNone/>
            </a:pPr>
            <a:r>
              <a:rPr lang="en-US" sz="950" dirty="0">
                <a:solidFill>
                  <a:srgbClr val="5A6478"/>
                </a:solidFill>
                <a:latin typeface="Calibri" panose="020F0502020204030204" pitchFamily="34" charset="0"/>
                <a:ea typeface="Calibri" panose="020F0502020204030204" pitchFamily="34" charset="-122"/>
                <a:cs typeface="Calibri" panose="020F0502020204030204" pitchFamily="34" charset="-120"/>
              </a:rPr>
              <a:t>Regex/signature filters + vector-DB similarity check against known attack embeddings</a:t>
            </a:r>
            <a:endParaRPr lang="en-US" sz="950" dirty="0"/>
          </a:p>
        </p:txBody>
      </p:sp>
      <p:sp>
        <p:nvSpPr>
          <p:cNvPr id="10" name="Shape 8"/>
          <p:cNvSpPr/>
          <p:nvPr/>
        </p:nvSpPr>
        <p:spPr>
          <a:xfrm>
            <a:off x="6080760" y="1892808"/>
            <a:ext cx="9144" cy="182880"/>
          </a:xfrm>
          <a:prstGeom prst="line">
            <a:avLst/>
          </a:prstGeom>
          <a:noFill/>
          <a:ln w="19050">
            <a:solidFill>
              <a:srgbClr val="5A6478"/>
            </a:solidFill>
            <a:prstDash val="solid"/>
            <a:tailEnd type="triangle"/>
          </a:ln>
        </p:spPr>
      </p:sp>
      <p:sp>
        <p:nvSpPr>
          <p:cNvPr id="11" name="Shape 9"/>
          <p:cNvSpPr/>
          <p:nvPr/>
        </p:nvSpPr>
        <p:spPr>
          <a:xfrm>
            <a:off x="4617720" y="2075688"/>
            <a:ext cx="2926080" cy="914400"/>
          </a:xfrm>
          <a:prstGeom prst="diamond">
            <a:avLst/>
          </a:prstGeom>
          <a:solidFill>
            <a:srgbClr val="1E2761"/>
          </a:solidFill>
        </p:spPr>
      </p:sp>
      <p:sp>
        <p:nvSpPr>
          <p:cNvPr id="12" name="Text 10"/>
          <p:cNvSpPr/>
          <p:nvPr/>
        </p:nvSpPr>
        <p:spPr>
          <a:xfrm>
            <a:off x="4754880" y="2075688"/>
            <a:ext cx="2651760" cy="914400"/>
          </a:xfrm>
          <a:prstGeom prst="rect">
            <a:avLst/>
          </a:prstGeom>
          <a:noFill/>
        </p:spPr>
        <p:txBody>
          <a:bodyPr wrap="square"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2. Threat &amp; Disguise</a:t>
            </a:r>
            <a:endParaRPr lang="en-US" sz="1150" dirty="0"/>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Detector</a:t>
            </a:r>
            <a:endParaRPr lang="en-US" sz="1150" dirty="0"/>
          </a:p>
        </p:txBody>
      </p:sp>
      <p:sp>
        <p:nvSpPr>
          <p:cNvPr id="13" name="Shape 11"/>
          <p:cNvSpPr/>
          <p:nvPr/>
        </p:nvSpPr>
        <p:spPr>
          <a:xfrm flipH="1">
            <a:off x="1051560" y="2487168"/>
            <a:ext cx="3566160" cy="1005840"/>
          </a:xfrm>
          <a:prstGeom prst="line">
            <a:avLst/>
          </a:prstGeom>
          <a:noFill/>
          <a:ln w="22225">
            <a:solidFill>
              <a:srgbClr val="00A896"/>
            </a:solidFill>
            <a:prstDash val="solid"/>
          </a:ln>
        </p:spPr>
      </p:sp>
      <p:sp>
        <p:nvSpPr>
          <p:cNvPr id="14" name="Text 12"/>
          <p:cNvSpPr/>
          <p:nvPr/>
        </p:nvSpPr>
        <p:spPr>
          <a:xfrm>
            <a:off x="914400" y="3127248"/>
            <a:ext cx="1463040" cy="274320"/>
          </a:xfrm>
          <a:prstGeom prst="rect">
            <a:avLst/>
          </a:prstGeom>
          <a:noFill/>
        </p:spPr>
        <p:txBody>
          <a:bodyPr wrap="square" rtlCol="0" anchor="ctr"/>
          <a:lstStyle/>
          <a:p>
            <a:pPr marL="0" indent="0">
              <a:buNone/>
            </a:pPr>
            <a:r>
              <a:rPr lang="en-US" sz="1050" b="1" dirty="0">
                <a:solidFill>
                  <a:srgbClr val="00A896"/>
                </a:solidFill>
                <a:latin typeface="Calibri" panose="020F0502020204030204" pitchFamily="34" charset="0"/>
                <a:ea typeface="Calibri" panose="020F0502020204030204" pitchFamily="34" charset="-122"/>
                <a:cs typeface="Calibri" panose="020F0502020204030204" pitchFamily="34" charset="-120"/>
              </a:rPr>
              <a:t>SAFE</a:t>
            </a:r>
            <a:endParaRPr lang="en-US" sz="1050" dirty="0"/>
          </a:p>
        </p:txBody>
      </p:sp>
      <p:sp>
        <p:nvSpPr>
          <p:cNvPr id="15" name="Shape 13"/>
          <p:cNvSpPr/>
          <p:nvPr/>
        </p:nvSpPr>
        <p:spPr>
          <a:xfrm>
            <a:off x="1051560" y="3493008"/>
            <a:ext cx="9144" cy="484632"/>
          </a:xfrm>
          <a:prstGeom prst="line">
            <a:avLst/>
          </a:prstGeom>
          <a:noFill/>
          <a:ln w="22225">
            <a:solidFill>
              <a:srgbClr val="00A896"/>
            </a:solidFill>
            <a:prstDash val="solid"/>
          </a:ln>
        </p:spPr>
      </p:sp>
      <p:sp>
        <p:nvSpPr>
          <p:cNvPr id="16" name="Shape 14"/>
          <p:cNvSpPr/>
          <p:nvPr/>
        </p:nvSpPr>
        <p:spPr>
          <a:xfrm>
            <a:off x="731520" y="3977640"/>
            <a:ext cx="2103120" cy="566928"/>
          </a:xfrm>
          <a:prstGeom prst="roundRect">
            <a:avLst>
              <a:gd name="adj" fmla="val 12903"/>
            </a:avLst>
          </a:prstGeom>
          <a:solidFill>
            <a:srgbClr val="E4F7F2"/>
          </a:solidFill>
          <a:ln w="12700">
            <a:solidFill>
              <a:srgbClr val="00A896"/>
            </a:solidFill>
            <a:prstDash val="solid"/>
          </a:ln>
        </p:spPr>
      </p:sp>
      <p:sp>
        <p:nvSpPr>
          <p:cNvPr id="17" name="Text 15"/>
          <p:cNvSpPr/>
          <p:nvPr/>
        </p:nvSpPr>
        <p:spPr>
          <a:xfrm>
            <a:off x="868680" y="3977640"/>
            <a:ext cx="1828800" cy="566928"/>
          </a:xfrm>
          <a:prstGeom prst="rect">
            <a:avLst/>
          </a:prstGeom>
          <a:noFill/>
        </p:spPr>
        <p:txBody>
          <a:bodyPr wrap="square" rtlCol="0" anchor="ctr"/>
          <a:lstStyle/>
          <a:p>
            <a:pPr marL="0" indent="0" algn="ctr">
              <a:buNone/>
            </a:pPr>
            <a:r>
              <a:rPr lang="en-US" sz="900" i="1" dirty="0">
                <a:solidFill>
                  <a:srgbClr val="1E2761"/>
                </a:solidFill>
                <a:latin typeface="Calibri" panose="020F0502020204030204" pitchFamily="34" charset="0"/>
                <a:ea typeface="Calibri" panose="020F0502020204030204" pitchFamily="34" charset="-122"/>
                <a:cs typeface="Calibri" panose="020F0502020204030204" pitchFamily="34" charset="-120"/>
              </a:rPr>
              <a:t>Fast path — skips steps 3 &amp; 4 entirely</a:t>
            </a:r>
            <a:endParaRPr lang="en-US" sz="900" dirty="0"/>
          </a:p>
        </p:txBody>
      </p:sp>
      <p:sp>
        <p:nvSpPr>
          <p:cNvPr id="18" name="Shape 16"/>
          <p:cNvSpPr/>
          <p:nvPr/>
        </p:nvSpPr>
        <p:spPr>
          <a:xfrm>
            <a:off x="1051560" y="4544568"/>
            <a:ext cx="9144" cy="1033272"/>
          </a:xfrm>
          <a:prstGeom prst="line">
            <a:avLst/>
          </a:prstGeom>
          <a:noFill/>
          <a:ln w="22225">
            <a:solidFill>
              <a:srgbClr val="00A896"/>
            </a:solidFill>
            <a:prstDash val="solid"/>
          </a:ln>
        </p:spPr>
      </p:sp>
      <p:sp>
        <p:nvSpPr>
          <p:cNvPr id="19" name="Shape 17"/>
          <p:cNvSpPr/>
          <p:nvPr/>
        </p:nvSpPr>
        <p:spPr>
          <a:xfrm>
            <a:off x="1051560" y="5577840"/>
            <a:ext cx="3291840" cy="9144"/>
          </a:xfrm>
          <a:prstGeom prst="line">
            <a:avLst/>
          </a:prstGeom>
          <a:noFill/>
          <a:ln w="22225">
            <a:solidFill>
              <a:srgbClr val="00A896"/>
            </a:solidFill>
            <a:prstDash val="solid"/>
            <a:tailEnd type="triangle"/>
          </a:ln>
        </p:spPr>
      </p:sp>
      <p:sp>
        <p:nvSpPr>
          <p:cNvPr id="20" name="Shape 18"/>
          <p:cNvSpPr/>
          <p:nvPr/>
        </p:nvSpPr>
        <p:spPr>
          <a:xfrm>
            <a:off x="7223760" y="3154680"/>
            <a:ext cx="3337560" cy="713232"/>
          </a:xfrm>
          <a:prstGeom prst="roundRect">
            <a:avLst>
              <a:gd name="adj" fmla="val 10256"/>
            </a:avLst>
          </a:prstGeom>
          <a:solidFill>
            <a:srgbClr val="FFFFFF"/>
          </a:solidFill>
          <a:ln w="12700">
            <a:solidFill>
              <a:srgbClr val="E3E8F0"/>
            </a:solidFill>
            <a:prstDash val="solid"/>
          </a:ln>
          <a:effectLst>
            <a:outerShdw blurRad="76200" dist="25400" dir="5400000" algn="bl" rotWithShape="0">
              <a:srgbClr val="1E2761">
                <a:alpha val="10000"/>
              </a:srgbClr>
            </a:outerShdw>
          </a:effectLst>
        </p:spPr>
      </p:sp>
      <p:sp>
        <p:nvSpPr>
          <p:cNvPr id="21" name="Text 19"/>
          <p:cNvSpPr/>
          <p:nvPr/>
        </p:nvSpPr>
        <p:spPr>
          <a:xfrm>
            <a:off x="7388352" y="3227832"/>
            <a:ext cx="3008376" cy="292608"/>
          </a:xfrm>
          <a:prstGeom prst="rect">
            <a:avLst/>
          </a:prstGeom>
          <a:noFill/>
        </p:spPr>
        <p:txBody>
          <a:bodyPr wrap="square" rtlCol="0" anchor="t"/>
          <a:lstStyle/>
          <a:p>
            <a:pPr marL="0" indent="0">
              <a:buNone/>
            </a:pPr>
            <a:r>
              <a:rPr lang="en-US" sz="1250" b="1" dirty="0">
                <a:solidFill>
                  <a:srgbClr val="1B2340"/>
                </a:solidFill>
                <a:latin typeface="Calibri" panose="020F0502020204030204" pitchFamily="34" charset="0"/>
                <a:ea typeface="Calibri" panose="020F0502020204030204" pitchFamily="34" charset="-122"/>
                <a:cs typeface="Calibri" panose="020F0502020204030204" pitchFamily="34" charset="-120"/>
              </a:rPr>
              <a:t>3. Safe Intent Extractor &amp; Rewriter</a:t>
            </a:r>
            <a:endParaRPr lang="en-US" sz="1250" dirty="0"/>
          </a:p>
        </p:txBody>
      </p:sp>
      <p:sp>
        <p:nvSpPr>
          <p:cNvPr id="22" name="Text 20"/>
          <p:cNvSpPr/>
          <p:nvPr/>
        </p:nvSpPr>
        <p:spPr>
          <a:xfrm>
            <a:off x="7388352" y="3442970"/>
            <a:ext cx="3008376" cy="292608"/>
          </a:xfrm>
          <a:prstGeom prst="rect">
            <a:avLst/>
          </a:prstGeom>
          <a:noFill/>
        </p:spPr>
        <p:txBody>
          <a:bodyPr wrap="square" rtlCol="0" anchor="t"/>
          <a:lstStyle/>
          <a:p>
            <a:pPr marL="0" indent="0">
              <a:lnSpc>
                <a:spcPct val="112000"/>
              </a:lnSpc>
              <a:buNone/>
            </a:pPr>
            <a:r>
              <a:rPr lang="en-US" sz="950" dirty="0">
                <a:solidFill>
                  <a:srgbClr val="5A6478"/>
                </a:solidFill>
                <a:latin typeface="Calibri" panose="020F0502020204030204" pitchFamily="34" charset="0"/>
                <a:ea typeface="Calibri" panose="020F0502020204030204" pitchFamily="34" charset="-122"/>
                <a:cs typeface="Calibri" panose="020F0502020204030204" pitchFamily="34" charset="-120"/>
              </a:rPr>
              <a:t>Extracts the benign intent and rewrites it as a safe, neutral query (Ollama + LangChain)</a:t>
            </a:r>
            <a:endParaRPr lang="en-US" sz="950" dirty="0"/>
          </a:p>
        </p:txBody>
      </p:sp>
      <p:sp>
        <p:nvSpPr>
          <p:cNvPr id="23" name="Shape 21"/>
          <p:cNvSpPr/>
          <p:nvPr/>
        </p:nvSpPr>
        <p:spPr>
          <a:xfrm>
            <a:off x="7543800" y="2578608"/>
            <a:ext cx="1344168" cy="576072"/>
          </a:xfrm>
          <a:prstGeom prst="line">
            <a:avLst/>
          </a:prstGeom>
          <a:noFill/>
          <a:ln w="22225">
            <a:solidFill>
              <a:srgbClr val="C94C4C"/>
            </a:solidFill>
            <a:prstDash val="solid"/>
          </a:ln>
        </p:spPr>
      </p:sp>
      <p:sp>
        <p:nvSpPr>
          <p:cNvPr id="24" name="Text 22"/>
          <p:cNvSpPr/>
          <p:nvPr/>
        </p:nvSpPr>
        <p:spPr>
          <a:xfrm>
            <a:off x="8530590" y="2724785"/>
            <a:ext cx="2194560" cy="274320"/>
          </a:xfrm>
          <a:prstGeom prst="rect">
            <a:avLst/>
          </a:prstGeom>
          <a:noFill/>
        </p:spPr>
        <p:txBody>
          <a:bodyPr wrap="square" rtlCol="0" anchor="ctr"/>
          <a:lstStyle/>
          <a:p>
            <a:pPr marL="0" indent="0">
              <a:buNone/>
            </a:pPr>
            <a:r>
              <a:rPr lang="en-US" sz="1050" b="1" dirty="0">
                <a:solidFill>
                  <a:srgbClr val="C94C4C"/>
                </a:solidFill>
                <a:latin typeface="Calibri" panose="020F0502020204030204" pitchFamily="34" charset="0"/>
                <a:ea typeface="Calibri" panose="020F0502020204030204" pitchFamily="34" charset="-122"/>
                <a:cs typeface="Calibri" panose="020F0502020204030204" pitchFamily="34" charset="-120"/>
              </a:rPr>
              <a:t>RISKY / DISGUISED</a:t>
            </a:r>
            <a:endParaRPr lang="en-US" sz="1050" dirty="0"/>
          </a:p>
        </p:txBody>
      </p:sp>
      <p:sp>
        <p:nvSpPr>
          <p:cNvPr id="25" name="Shape 23"/>
          <p:cNvSpPr/>
          <p:nvPr/>
        </p:nvSpPr>
        <p:spPr>
          <a:xfrm>
            <a:off x="8887968" y="3867912"/>
            <a:ext cx="9144" cy="182880"/>
          </a:xfrm>
          <a:prstGeom prst="line">
            <a:avLst/>
          </a:prstGeom>
          <a:noFill/>
          <a:ln w="19050">
            <a:solidFill>
              <a:srgbClr val="5A6478"/>
            </a:solidFill>
            <a:prstDash val="solid"/>
            <a:tailEnd type="triangle"/>
          </a:ln>
        </p:spPr>
      </p:sp>
      <p:sp>
        <p:nvSpPr>
          <p:cNvPr id="26" name="Shape 24"/>
          <p:cNvSpPr/>
          <p:nvPr/>
        </p:nvSpPr>
        <p:spPr>
          <a:xfrm>
            <a:off x="7223760" y="4069080"/>
            <a:ext cx="3337560" cy="713232"/>
          </a:xfrm>
          <a:prstGeom prst="roundRect">
            <a:avLst>
              <a:gd name="adj" fmla="val 10256"/>
            </a:avLst>
          </a:prstGeom>
          <a:solidFill>
            <a:srgbClr val="FFFFFF"/>
          </a:solidFill>
          <a:ln w="12700">
            <a:solidFill>
              <a:srgbClr val="E3E8F0"/>
            </a:solidFill>
            <a:prstDash val="solid"/>
          </a:ln>
          <a:effectLst>
            <a:outerShdw blurRad="76200" dist="25400" dir="5400000" algn="bl" rotWithShape="0">
              <a:srgbClr val="1E2761">
                <a:alpha val="10000"/>
              </a:srgbClr>
            </a:outerShdw>
          </a:effectLst>
        </p:spPr>
      </p:sp>
      <p:sp>
        <p:nvSpPr>
          <p:cNvPr id="27" name="Text 25"/>
          <p:cNvSpPr/>
          <p:nvPr/>
        </p:nvSpPr>
        <p:spPr>
          <a:xfrm>
            <a:off x="7388352" y="4142232"/>
            <a:ext cx="3008376" cy="292608"/>
          </a:xfrm>
          <a:prstGeom prst="rect">
            <a:avLst/>
          </a:prstGeom>
          <a:noFill/>
        </p:spPr>
        <p:txBody>
          <a:bodyPr wrap="square" rtlCol="0" anchor="t"/>
          <a:lstStyle/>
          <a:p>
            <a:pPr marL="0" indent="0">
              <a:buNone/>
            </a:pPr>
            <a:r>
              <a:rPr lang="en-US" sz="1250" b="1" dirty="0">
                <a:solidFill>
                  <a:srgbClr val="1B2340"/>
                </a:solidFill>
                <a:latin typeface="Calibri" panose="020F0502020204030204" pitchFamily="34" charset="0"/>
                <a:ea typeface="Calibri" panose="020F0502020204030204" pitchFamily="34" charset="-122"/>
                <a:cs typeface="Calibri" panose="020F0502020204030204" pitchFamily="34" charset="-120"/>
              </a:rPr>
              <a:t>4. Policy-as-Code Validator</a:t>
            </a:r>
            <a:endParaRPr lang="en-US" sz="1250" dirty="0"/>
          </a:p>
        </p:txBody>
      </p:sp>
      <p:sp>
        <p:nvSpPr>
          <p:cNvPr id="28" name="Text 26"/>
          <p:cNvSpPr/>
          <p:nvPr/>
        </p:nvSpPr>
        <p:spPr>
          <a:xfrm>
            <a:off x="7388352" y="4398010"/>
            <a:ext cx="3008376" cy="292608"/>
          </a:xfrm>
          <a:prstGeom prst="rect">
            <a:avLst/>
          </a:prstGeom>
          <a:noFill/>
        </p:spPr>
        <p:txBody>
          <a:bodyPr wrap="square" rtlCol="0" anchor="t"/>
          <a:lstStyle/>
          <a:p>
            <a:pPr marL="0" indent="0">
              <a:lnSpc>
                <a:spcPct val="112000"/>
              </a:lnSpc>
              <a:buNone/>
            </a:pPr>
            <a:r>
              <a:rPr lang="en-US" sz="950" dirty="0">
                <a:solidFill>
                  <a:srgbClr val="5A6478"/>
                </a:solidFill>
                <a:latin typeface="Calibri" panose="020F0502020204030204" pitchFamily="34" charset="0"/>
                <a:ea typeface="Calibri" panose="020F0502020204030204" pitchFamily="34" charset="-122"/>
                <a:cs typeface="Calibri" panose="020F0502020204030204" pitchFamily="34" charset="-120"/>
              </a:rPr>
              <a:t>Deterministic sanity check — Pydantic schema, keyword blocklist, toxicity classifier</a:t>
            </a:r>
            <a:endParaRPr lang="en-US" sz="950" dirty="0"/>
          </a:p>
        </p:txBody>
      </p:sp>
      <p:sp>
        <p:nvSpPr>
          <p:cNvPr id="29" name="Shape 27"/>
          <p:cNvSpPr/>
          <p:nvPr/>
        </p:nvSpPr>
        <p:spPr>
          <a:xfrm flipH="1">
            <a:off x="7818120" y="4782312"/>
            <a:ext cx="1069848" cy="795528"/>
          </a:xfrm>
          <a:prstGeom prst="line">
            <a:avLst/>
          </a:prstGeom>
          <a:noFill/>
          <a:ln w="22225">
            <a:solidFill>
              <a:srgbClr val="C94C4C"/>
            </a:solidFill>
            <a:prstDash val="solid"/>
          </a:ln>
        </p:spPr>
      </p:sp>
      <p:sp>
        <p:nvSpPr>
          <p:cNvPr id="30" name="Shape 28"/>
          <p:cNvSpPr/>
          <p:nvPr/>
        </p:nvSpPr>
        <p:spPr>
          <a:xfrm>
            <a:off x="4343400" y="5577840"/>
            <a:ext cx="3474720" cy="566928"/>
          </a:xfrm>
          <a:prstGeom prst="roundRect">
            <a:avLst>
              <a:gd name="adj" fmla="val 12903"/>
            </a:avLst>
          </a:prstGeom>
          <a:solidFill>
            <a:srgbClr val="FFFFFF"/>
          </a:solidFill>
          <a:ln w="12700">
            <a:solidFill>
              <a:srgbClr val="E3E8F0"/>
            </a:solidFill>
            <a:prstDash val="solid"/>
          </a:ln>
          <a:effectLst>
            <a:outerShdw blurRad="76200" dist="25400" dir="5400000" algn="bl" rotWithShape="0">
              <a:srgbClr val="1E2761">
                <a:alpha val="10000"/>
              </a:srgbClr>
            </a:outerShdw>
          </a:effectLst>
        </p:spPr>
      </p:sp>
      <p:sp>
        <p:nvSpPr>
          <p:cNvPr id="31" name="Text 29"/>
          <p:cNvSpPr/>
          <p:nvPr/>
        </p:nvSpPr>
        <p:spPr>
          <a:xfrm>
            <a:off x="4507992" y="5568442"/>
            <a:ext cx="3145536" cy="292608"/>
          </a:xfrm>
          <a:prstGeom prst="rect">
            <a:avLst/>
          </a:prstGeom>
          <a:noFill/>
        </p:spPr>
        <p:txBody>
          <a:bodyPr wrap="square" rtlCol="0" anchor="t"/>
          <a:lstStyle/>
          <a:p>
            <a:pPr marL="0" indent="0">
              <a:buNone/>
            </a:pPr>
            <a:r>
              <a:rPr lang="en-US" sz="1250" b="1" dirty="0">
                <a:solidFill>
                  <a:srgbClr val="1B2340"/>
                </a:solidFill>
                <a:latin typeface="Calibri" panose="020F0502020204030204" pitchFamily="34" charset="0"/>
                <a:ea typeface="Calibri" panose="020F0502020204030204" pitchFamily="34" charset="-122"/>
                <a:cs typeface="Calibri" panose="020F0502020204030204" pitchFamily="34" charset="-120"/>
              </a:rPr>
              <a:t>5. Safe Execution Sandbox</a:t>
            </a:r>
            <a:endParaRPr lang="en-US" sz="1250" dirty="0"/>
          </a:p>
        </p:txBody>
      </p:sp>
      <p:sp>
        <p:nvSpPr>
          <p:cNvPr id="32" name="Text 30"/>
          <p:cNvSpPr/>
          <p:nvPr/>
        </p:nvSpPr>
        <p:spPr>
          <a:xfrm>
            <a:off x="4507992" y="5752465"/>
            <a:ext cx="3145536" cy="146304"/>
          </a:xfrm>
          <a:prstGeom prst="rect">
            <a:avLst/>
          </a:prstGeom>
          <a:noFill/>
        </p:spPr>
        <p:txBody>
          <a:bodyPr wrap="square" rtlCol="0" anchor="t"/>
          <a:lstStyle/>
          <a:p>
            <a:pPr marL="0" indent="0">
              <a:lnSpc>
                <a:spcPct val="112000"/>
              </a:lnSpc>
              <a:buNone/>
            </a:pPr>
            <a:r>
              <a:rPr lang="en-US" sz="950" dirty="0">
                <a:solidFill>
                  <a:srgbClr val="5A6478"/>
                </a:solidFill>
                <a:latin typeface="Calibri" panose="020F0502020204030204" pitchFamily="34" charset="0"/>
                <a:ea typeface="Calibri" panose="020F0502020204030204" pitchFamily="34" charset="-122"/>
                <a:cs typeface="Calibri" panose="020F0502020204030204" pitchFamily="34" charset="-120"/>
              </a:rPr>
              <a:t>Executes the safe prompt; filters output for PII or harmful content leakage</a:t>
            </a:r>
            <a:endParaRPr lang="en-US" sz="950" dirty="0"/>
          </a:p>
        </p:txBody>
      </p:sp>
      <p:sp>
        <p:nvSpPr>
          <p:cNvPr id="33" name="Shape 31"/>
          <p:cNvSpPr/>
          <p:nvPr/>
        </p:nvSpPr>
        <p:spPr>
          <a:xfrm>
            <a:off x="6080760" y="6144768"/>
            <a:ext cx="9144" cy="182880"/>
          </a:xfrm>
          <a:prstGeom prst="line">
            <a:avLst/>
          </a:prstGeom>
          <a:noFill/>
          <a:ln w="19050">
            <a:solidFill>
              <a:srgbClr val="5A6478"/>
            </a:solidFill>
            <a:prstDash val="solid"/>
            <a:tailEnd type="triangle"/>
          </a:ln>
        </p:spPr>
      </p:sp>
      <p:sp>
        <p:nvSpPr>
          <p:cNvPr id="34" name="Shape 32"/>
          <p:cNvSpPr/>
          <p:nvPr/>
        </p:nvSpPr>
        <p:spPr>
          <a:xfrm>
            <a:off x="4709160" y="6382512"/>
            <a:ext cx="2743200" cy="384048"/>
          </a:xfrm>
          <a:prstGeom prst="roundRect">
            <a:avLst>
              <a:gd name="adj" fmla="val 19048"/>
            </a:avLst>
          </a:prstGeom>
          <a:solidFill>
            <a:srgbClr val="1E2761"/>
          </a:solidFill>
          <a:ln w="12700">
            <a:solidFill>
              <a:srgbClr val="E3E8F0"/>
            </a:solidFill>
            <a:prstDash val="solid"/>
          </a:ln>
          <a:effectLst>
            <a:outerShdw blurRad="76200" dist="25400" dir="5400000" algn="bl" rotWithShape="0">
              <a:srgbClr val="1E2761">
                <a:alpha val="10000"/>
              </a:srgbClr>
            </a:outerShdw>
          </a:effectLst>
        </p:spPr>
      </p:sp>
      <p:sp>
        <p:nvSpPr>
          <p:cNvPr id="35" name="Text 33"/>
          <p:cNvSpPr/>
          <p:nvPr/>
        </p:nvSpPr>
        <p:spPr>
          <a:xfrm>
            <a:off x="4709160" y="6382512"/>
            <a:ext cx="2743200" cy="384048"/>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Final AI Response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365760"/>
          </a:xfrm>
          <a:prstGeom prst="rect">
            <a:avLst/>
          </a:prstGeom>
          <a:noFill/>
        </p:spPr>
        <p:txBody>
          <a:bodyPr wrap="square" rtlCol="0" anchor="ctr"/>
          <a:lstStyle/>
          <a:p>
            <a:pPr marL="0" indent="0">
              <a:buNone/>
            </a:pPr>
            <a:r>
              <a:rPr lang="en-US" sz="1200" b="1" kern="0" spc="300" dirty="0">
                <a:solidFill>
                  <a:srgbClr val="00A896"/>
                </a:solidFill>
                <a:latin typeface="Calibri" panose="020F0502020204030204" pitchFamily="34" charset="0"/>
                <a:ea typeface="Calibri" panose="020F0502020204030204" pitchFamily="34" charset="-122"/>
                <a:cs typeface="Calibri" panose="020F0502020204030204" pitchFamily="34" charset="-120"/>
              </a:rPr>
              <a:t>GETTING THERE</a:t>
            </a:r>
            <a:endParaRPr lang="en-US" sz="1200" dirty="0"/>
          </a:p>
        </p:txBody>
      </p:sp>
      <p:sp>
        <p:nvSpPr>
          <p:cNvPr id="3" name="Text 1"/>
          <p:cNvSpPr/>
          <p:nvPr/>
        </p:nvSpPr>
        <p:spPr>
          <a:xfrm>
            <a:off x="640080" y="685800"/>
            <a:ext cx="10881360" cy="548640"/>
          </a:xfrm>
          <a:prstGeom prst="rect">
            <a:avLst/>
          </a:prstGeom>
          <a:noFill/>
        </p:spPr>
        <p:txBody>
          <a:bodyPr wrap="square" rtlCol="0" anchor="ctr"/>
          <a:lstStyle/>
          <a:p>
            <a:pPr marL="0" indent="0">
              <a:buNone/>
            </a:pPr>
            <a:r>
              <a:rPr lang="en-US" sz="2600" b="1" dirty="0">
                <a:solidFill>
                  <a:srgbClr val="1B2340"/>
                </a:solidFill>
                <a:latin typeface="Cambria" panose="02040503050406030204" pitchFamily="34" charset="0"/>
                <a:ea typeface="Cambria" panose="02040503050406030204" pitchFamily="34" charset="-122"/>
                <a:cs typeface="Cambria" panose="02040503050406030204" pitchFamily="34" charset="-120"/>
              </a:rPr>
              <a:t>Steps Required to Build the Pipeline</a:t>
            </a:r>
            <a:endParaRPr lang="en-US" sz="2600" dirty="0"/>
          </a:p>
        </p:txBody>
      </p:sp>
      <p:sp>
        <p:nvSpPr>
          <p:cNvPr id="4" name="Shape 2"/>
          <p:cNvSpPr/>
          <p:nvPr/>
        </p:nvSpPr>
        <p:spPr>
          <a:xfrm>
            <a:off x="640080" y="1417320"/>
            <a:ext cx="10881360" cy="841248"/>
          </a:xfrm>
          <a:prstGeom prst="roundRect">
            <a:avLst>
              <a:gd name="adj" fmla="val 8696"/>
            </a:avLst>
          </a:prstGeom>
          <a:solidFill>
            <a:srgbClr val="FFFFFF"/>
          </a:solidFill>
        </p:spPr>
      </p:sp>
      <p:sp>
        <p:nvSpPr>
          <p:cNvPr id="5" name="Shape 3"/>
          <p:cNvSpPr/>
          <p:nvPr/>
        </p:nvSpPr>
        <p:spPr>
          <a:xfrm>
            <a:off x="841248" y="1618488"/>
            <a:ext cx="438912" cy="438912"/>
          </a:xfrm>
          <a:prstGeom prst="ellipse">
            <a:avLst/>
          </a:prstGeom>
          <a:solidFill>
            <a:srgbClr val="00A896"/>
          </a:solidFill>
        </p:spPr>
      </p:sp>
      <p:sp>
        <p:nvSpPr>
          <p:cNvPr id="6" name="Text 4"/>
          <p:cNvSpPr/>
          <p:nvPr/>
        </p:nvSpPr>
        <p:spPr>
          <a:xfrm>
            <a:off x="841248" y="1618488"/>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7" name="Text 5"/>
          <p:cNvSpPr/>
          <p:nvPr/>
        </p:nvSpPr>
        <p:spPr>
          <a:xfrm>
            <a:off x="1463040" y="1508760"/>
            <a:ext cx="3291840" cy="658368"/>
          </a:xfrm>
          <a:prstGeom prst="rect">
            <a:avLst/>
          </a:prstGeom>
          <a:noFill/>
        </p:spPr>
        <p:txBody>
          <a:bodyPr wrap="square" rtlCol="0" anchor="ctr"/>
          <a:lstStyle/>
          <a:p>
            <a:pPr marL="0" indent="0">
              <a:buNone/>
            </a:pPr>
            <a:r>
              <a:rPr lang="en-US" sz="1300" b="1" dirty="0">
                <a:solidFill>
                  <a:srgbClr val="1B2340"/>
                </a:solidFill>
                <a:latin typeface="Calibri" panose="020F0502020204030204" pitchFamily="34" charset="0"/>
                <a:ea typeface="Calibri" panose="020F0502020204030204" pitchFamily="34" charset="-122"/>
                <a:cs typeface="Calibri" panose="020F0502020204030204" pitchFamily="34" charset="-120"/>
              </a:rPr>
              <a:t>Build the ingestion layer</a:t>
            </a:r>
            <a:endParaRPr lang="en-US" sz="1300" dirty="0"/>
          </a:p>
        </p:txBody>
      </p:sp>
      <p:sp>
        <p:nvSpPr>
          <p:cNvPr id="8" name="Text 6"/>
          <p:cNvSpPr/>
          <p:nvPr/>
        </p:nvSpPr>
        <p:spPr>
          <a:xfrm>
            <a:off x="4846320" y="1508760"/>
            <a:ext cx="6400800" cy="658368"/>
          </a:xfrm>
          <a:prstGeom prst="rect">
            <a:avLst/>
          </a:prstGeom>
          <a:noFill/>
        </p:spPr>
        <p:txBody>
          <a:bodyPr wrap="square" rtlCol="0" anchor="ctr"/>
          <a:lstStyle/>
          <a:p>
            <a:pPr marL="0" indent="0">
              <a:lnSpc>
                <a:spcPct val="115000"/>
              </a:lnSpc>
              <a:buNone/>
            </a:pPr>
            <a:r>
              <a:rPr lang="en-US" sz="1100" dirty="0">
                <a:solidFill>
                  <a:srgbClr val="5A6478"/>
                </a:solidFill>
                <a:latin typeface="Calibri" panose="020F0502020204030204" pitchFamily="34" charset="0"/>
                <a:ea typeface="Calibri" panose="020F0502020204030204" pitchFamily="34" charset="-122"/>
                <a:cs typeface="Calibri" panose="020F0502020204030204" pitchFamily="34" charset="-120"/>
              </a:rPr>
              <a:t>Add regex/string filters for known bad phrases, plus a vector DB (Chroma or Pinecone) that flags prompts too similar to known attack embeddings.</a:t>
            </a:r>
            <a:endParaRPr lang="en-US" sz="1100" dirty="0"/>
          </a:p>
        </p:txBody>
      </p:sp>
      <p:sp>
        <p:nvSpPr>
          <p:cNvPr id="9" name="Shape 7"/>
          <p:cNvSpPr/>
          <p:nvPr/>
        </p:nvSpPr>
        <p:spPr>
          <a:xfrm>
            <a:off x="640080" y="2331720"/>
            <a:ext cx="10881360" cy="841248"/>
          </a:xfrm>
          <a:prstGeom prst="roundRect">
            <a:avLst>
              <a:gd name="adj" fmla="val 8696"/>
            </a:avLst>
          </a:prstGeom>
          <a:solidFill>
            <a:srgbClr val="EFF3FA"/>
          </a:solidFill>
        </p:spPr>
      </p:sp>
      <p:sp>
        <p:nvSpPr>
          <p:cNvPr id="10" name="Shape 8"/>
          <p:cNvSpPr/>
          <p:nvPr/>
        </p:nvSpPr>
        <p:spPr>
          <a:xfrm>
            <a:off x="841248" y="2532888"/>
            <a:ext cx="438912" cy="438912"/>
          </a:xfrm>
          <a:prstGeom prst="ellipse">
            <a:avLst/>
          </a:prstGeom>
          <a:solidFill>
            <a:srgbClr val="00A896"/>
          </a:solidFill>
        </p:spPr>
      </p:sp>
      <p:sp>
        <p:nvSpPr>
          <p:cNvPr id="11" name="Text 9"/>
          <p:cNvSpPr/>
          <p:nvPr/>
        </p:nvSpPr>
        <p:spPr>
          <a:xfrm>
            <a:off x="841248" y="2532888"/>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2" name="Text 10"/>
          <p:cNvSpPr/>
          <p:nvPr/>
        </p:nvSpPr>
        <p:spPr>
          <a:xfrm>
            <a:off x="1463040" y="2423160"/>
            <a:ext cx="3291840" cy="658368"/>
          </a:xfrm>
          <a:prstGeom prst="rect">
            <a:avLst/>
          </a:prstGeom>
          <a:noFill/>
        </p:spPr>
        <p:txBody>
          <a:bodyPr wrap="square" rtlCol="0" anchor="ctr"/>
          <a:lstStyle/>
          <a:p>
            <a:pPr marL="0" indent="0">
              <a:buNone/>
            </a:pPr>
            <a:r>
              <a:rPr lang="en-US" sz="1300" b="1" dirty="0">
                <a:solidFill>
                  <a:srgbClr val="1B2340"/>
                </a:solidFill>
                <a:latin typeface="Calibri" panose="020F0502020204030204" pitchFamily="34" charset="0"/>
                <a:ea typeface="Calibri" panose="020F0502020204030204" pitchFamily="34" charset="-122"/>
                <a:cs typeface="Calibri" panose="020F0502020204030204" pitchFamily="34" charset="-120"/>
              </a:rPr>
              <a:t>Deploy the threat detector</a:t>
            </a:r>
            <a:endParaRPr lang="en-US" sz="1300" dirty="0"/>
          </a:p>
        </p:txBody>
      </p:sp>
      <p:sp>
        <p:nvSpPr>
          <p:cNvPr id="13" name="Text 11"/>
          <p:cNvSpPr/>
          <p:nvPr/>
        </p:nvSpPr>
        <p:spPr>
          <a:xfrm>
            <a:off x="4846320" y="2423160"/>
            <a:ext cx="6400800" cy="658368"/>
          </a:xfrm>
          <a:prstGeom prst="rect">
            <a:avLst/>
          </a:prstGeom>
          <a:noFill/>
        </p:spPr>
        <p:txBody>
          <a:bodyPr wrap="square" rtlCol="0" anchor="ctr"/>
          <a:lstStyle/>
          <a:p>
            <a:pPr marL="0" indent="0">
              <a:lnSpc>
                <a:spcPct val="115000"/>
              </a:lnSpc>
              <a:buNone/>
            </a:pPr>
            <a:r>
              <a:rPr lang="en-US" sz="1100" dirty="0">
                <a:solidFill>
                  <a:srgbClr val="5A6478"/>
                </a:solidFill>
                <a:latin typeface="Calibri" panose="020F0502020204030204" pitchFamily="34" charset="0"/>
                <a:ea typeface="Calibri" panose="020F0502020204030204" pitchFamily="34" charset="-122"/>
                <a:cs typeface="Calibri" panose="020F0502020204030204" pitchFamily="34" charset="-120"/>
              </a:rPr>
              <a:t>Wrap an Ollama-hosted classifier model with a guardrails framework (NeMo Guardrails / Guardrails AI) that outputs a structured is_safe / threat_type verdict.</a:t>
            </a:r>
            <a:endParaRPr lang="en-US" sz="1100" dirty="0"/>
          </a:p>
        </p:txBody>
      </p:sp>
      <p:sp>
        <p:nvSpPr>
          <p:cNvPr id="14" name="Shape 12"/>
          <p:cNvSpPr/>
          <p:nvPr/>
        </p:nvSpPr>
        <p:spPr>
          <a:xfrm>
            <a:off x="640080" y="3246120"/>
            <a:ext cx="10881360" cy="841248"/>
          </a:xfrm>
          <a:prstGeom prst="roundRect">
            <a:avLst>
              <a:gd name="adj" fmla="val 8696"/>
            </a:avLst>
          </a:prstGeom>
          <a:solidFill>
            <a:srgbClr val="FFFFFF"/>
          </a:solidFill>
        </p:spPr>
      </p:sp>
      <p:sp>
        <p:nvSpPr>
          <p:cNvPr id="15" name="Shape 13"/>
          <p:cNvSpPr/>
          <p:nvPr/>
        </p:nvSpPr>
        <p:spPr>
          <a:xfrm>
            <a:off x="841248" y="3447288"/>
            <a:ext cx="438912" cy="438912"/>
          </a:xfrm>
          <a:prstGeom prst="ellipse">
            <a:avLst/>
          </a:prstGeom>
          <a:solidFill>
            <a:srgbClr val="00A896"/>
          </a:solidFill>
        </p:spPr>
      </p:sp>
      <p:sp>
        <p:nvSpPr>
          <p:cNvPr id="16" name="Text 14"/>
          <p:cNvSpPr/>
          <p:nvPr/>
        </p:nvSpPr>
        <p:spPr>
          <a:xfrm>
            <a:off x="841248" y="3447288"/>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7" name="Text 15"/>
          <p:cNvSpPr/>
          <p:nvPr/>
        </p:nvSpPr>
        <p:spPr>
          <a:xfrm>
            <a:off x="1463040" y="3337560"/>
            <a:ext cx="3291840" cy="658368"/>
          </a:xfrm>
          <a:prstGeom prst="rect">
            <a:avLst/>
          </a:prstGeom>
          <a:noFill/>
        </p:spPr>
        <p:txBody>
          <a:bodyPr wrap="square" rtlCol="0" anchor="ctr"/>
          <a:lstStyle/>
          <a:p>
            <a:pPr marL="0" indent="0">
              <a:buNone/>
            </a:pPr>
            <a:r>
              <a:rPr lang="en-US" sz="1300" b="1" dirty="0">
                <a:solidFill>
                  <a:srgbClr val="1B2340"/>
                </a:solidFill>
                <a:latin typeface="Calibri" panose="020F0502020204030204" pitchFamily="34" charset="0"/>
                <a:ea typeface="Calibri" panose="020F0502020204030204" pitchFamily="34" charset="-122"/>
                <a:cs typeface="Calibri" panose="020F0502020204030204" pitchFamily="34" charset="-120"/>
              </a:rPr>
              <a:t>Build the intent extractor &amp; rewriter</a:t>
            </a:r>
            <a:endParaRPr lang="en-US" sz="1300" dirty="0"/>
          </a:p>
        </p:txBody>
      </p:sp>
      <p:sp>
        <p:nvSpPr>
          <p:cNvPr id="18" name="Text 16"/>
          <p:cNvSpPr/>
          <p:nvPr/>
        </p:nvSpPr>
        <p:spPr>
          <a:xfrm>
            <a:off x="4846320" y="3337560"/>
            <a:ext cx="6400800" cy="658368"/>
          </a:xfrm>
          <a:prstGeom prst="rect">
            <a:avLst/>
          </a:prstGeom>
          <a:noFill/>
        </p:spPr>
        <p:txBody>
          <a:bodyPr wrap="square" rtlCol="0" anchor="ctr"/>
          <a:lstStyle/>
          <a:p>
            <a:pPr marL="0" indent="0">
              <a:lnSpc>
                <a:spcPct val="115000"/>
              </a:lnSpc>
              <a:buNone/>
            </a:pPr>
            <a:r>
              <a:rPr lang="en-US" sz="1100" dirty="0">
                <a:solidFill>
                  <a:srgbClr val="5A6478"/>
                </a:solidFill>
                <a:latin typeface="Calibri" panose="020F0502020204030204" pitchFamily="34" charset="0"/>
                <a:ea typeface="Calibri" panose="020F0502020204030204" pitchFamily="34" charset="-122"/>
                <a:cs typeface="Calibri" panose="020F0502020204030204" pitchFamily="34" charset="-120"/>
              </a:rPr>
              <a:t>Pipe flagged prompts through Ollama via LangChain with a strict system prompt: extract the benign intent and rewrite it, or return INVALID.</a:t>
            </a:r>
            <a:endParaRPr lang="en-US" sz="1100" dirty="0"/>
          </a:p>
        </p:txBody>
      </p:sp>
      <p:sp>
        <p:nvSpPr>
          <p:cNvPr id="19" name="Shape 17"/>
          <p:cNvSpPr/>
          <p:nvPr/>
        </p:nvSpPr>
        <p:spPr>
          <a:xfrm>
            <a:off x="640080" y="4160520"/>
            <a:ext cx="10881360" cy="841248"/>
          </a:xfrm>
          <a:prstGeom prst="roundRect">
            <a:avLst>
              <a:gd name="adj" fmla="val 8696"/>
            </a:avLst>
          </a:prstGeom>
          <a:solidFill>
            <a:srgbClr val="EFF3FA"/>
          </a:solidFill>
        </p:spPr>
      </p:sp>
      <p:sp>
        <p:nvSpPr>
          <p:cNvPr id="20" name="Shape 18"/>
          <p:cNvSpPr/>
          <p:nvPr/>
        </p:nvSpPr>
        <p:spPr>
          <a:xfrm>
            <a:off x="841248" y="4361688"/>
            <a:ext cx="438912" cy="438912"/>
          </a:xfrm>
          <a:prstGeom prst="ellipse">
            <a:avLst/>
          </a:prstGeom>
          <a:solidFill>
            <a:srgbClr val="00A896"/>
          </a:solidFill>
        </p:spPr>
      </p:sp>
      <p:sp>
        <p:nvSpPr>
          <p:cNvPr id="21" name="Text 19"/>
          <p:cNvSpPr/>
          <p:nvPr/>
        </p:nvSpPr>
        <p:spPr>
          <a:xfrm>
            <a:off x="841248" y="4361688"/>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22" name="Text 20"/>
          <p:cNvSpPr/>
          <p:nvPr/>
        </p:nvSpPr>
        <p:spPr>
          <a:xfrm>
            <a:off x="1463040" y="4251960"/>
            <a:ext cx="3291840" cy="658368"/>
          </a:xfrm>
          <a:prstGeom prst="rect">
            <a:avLst/>
          </a:prstGeom>
          <a:noFill/>
        </p:spPr>
        <p:txBody>
          <a:bodyPr wrap="square" rtlCol="0" anchor="ctr"/>
          <a:lstStyle/>
          <a:p>
            <a:pPr marL="0" indent="0">
              <a:buNone/>
            </a:pPr>
            <a:r>
              <a:rPr lang="en-US" sz="1300" b="1" dirty="0">
                <a:solidFill>
                  <a:srgbClr val="1B2340"/>
                </a:solidFill>
                <a:latin typeface="Calibri" panose="020F0502020204030204" pitchFamily="34" charset="0"/>
                <a:ea typeface="Calibri" panose="020F0502020204030204" pitchFamily="34" charset="-122"/>
                <a:cs typeface="Calibri" panose="020F0502020204030204" pitchFamily="34" charset="-120"/>
              </a:rPr>
              <a:t>Add the policy-as-code validator</a:t>
            </a:r>
            <a:endParaRPr lang="en-US" sz="1300" dirty="0"/>
          </a:p>
        </p:txBody>
      </p:sp>
      <p:sp>
        <p:nvSpPr>
          <p:cNvPr id="23" name="Text 21"/>
          <p:cNvSpPr/>
          <p:nvPr/>
        </p:nvSpPr>
        <p:spPr>
          <a:xfrm>
            <a:off x="4846320" y="4251960"/>
            <a:ext cx="6400800" cy="658368"/>
          </a:xfrm>
          <a:prstGeom prst="rect">
            <a:avLst/>
          </a:prstGeom>
          <a:noFill/>
        </p:spPr>
        <p:txBody>
          <a:bodyPr wrap="square" rtlCol="0" anchor="ctr"/>
          <a:lstStyle/>
          <a:p>
            <a:pPr marL="0" indent="0">
              <a:lnSpc>
                <a:spcPct val="115000"/>
              </a:lnSpc>
              <a:buNone/>
            </a:pPr>
            <a:r>
              <a:rPr lang="en-US" sz="1100" dirty="0">
                <a:solidFill>
                  <a:srgbClr val="5A6478"/>
                </a:solidFill>
                <a:latin typeface="Calibri" panose="020F0502020204030204" pitchFamily="34" charset="0"/>
                <a:ea typeface="Calibri" panose="020F0502020204030204" pitchFamily="34" charset="-122"/>
                <a:cs typeface="Calibri" panose="020F0502020204030204" pitchFamily="34" charset="-120"/>
              </a:rPr>
              <a:t>Enforce the rewrite's structure with Pydantic, and run keyword blocklist and toxicity checks as a deterministic sanity check.</a:t>
            </a:r>
            <a:endParaRPr lang="en-US" sz="1100" dirty="0"/>
          </a:p>
        </p:txBody>
      </p:sp>
      <p:sp>
        <p:nvSpPr>
          <p:cNvPr id="24" name="Shape 22"/>
          <p:cNvSpPr/>
          <p:nvPr/>
        </p:nvSpPr>
        <p:spPr>
          <a:xfrm>
            <a:off x="640080" y="5074920"/>
            <a:ext cx="10881360" cy="841248"/>
          </a:xfrm>
          <a:prstGeom prst="roundRect">
            <a:avLst>
              <a:gd name="adj" fmla="val 8696"/>
            </a:avLst>
          </a:prstGeom>
          <a:solidFill>
            <a:srgbClr val="FFFFFF"/>
          </a:solidFill>
        </p:spPr>
      </p:sp>
      <p:sp>
        <p:nvSpPr>
          <p:cNvPr id="25" name="Shape 23"/>
          <p:cNvSpPr/>
          <p:nvPr/>
        </p:nvSpPr>
        <p:spPr>
          <a:xfrm>
            <a:off x="841248" y="5276088"/>
            <a:ext cx="438912" cy="438912"/>
          </a:xfrm>
          <a:prstGeom prst="ellipse">
            <a:avLst/>
          </a:prstGeom>
          <a:solidFill>
            <a:srgbClr val="00A896"/>
          </a:solidFill>
        </p:spPr>
      </p:sp>
      <p:sp>
        <p:nvSpPr>
          <p:cNvPr id="26" name="Text 24"/>
          <p:cNvSpPr/>
          <p:nvPr/>
        </p:nvSpPr>
        <p:spPr>
          <a:xfrm>
            <a:off x="841248" y="5276088"/>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27" name="Text 25"/>
          <p:cNvSpPr/>
          <p:nvPr/>
        </p:nvSpPr>
        <p:spPr>
          <a:xfrm>
            <a:off x="1463040" y="5166360"/>
            <a:ext cx="3291840" cy="658368"/>
          </a:xfrm>
          <a:prstGeom prst="rect">
            <a:avLst/>
          </a:prstGeom>
          <a:noFill/>
        </p:spPr>
        <p:txBody>
          <a:bodyPr wrap="square" rtlCol="0" anchor="ctr"/>
          <a:lstStyle/>
          <a:p>
            <a:pPr marL="0" indent="0">
              <a:buNone/>
            </a:pPr>
            <a:r>
              <a:rPr lang="en-US" sz="1300" b="1" dirty="0">
                <a:solidFill>
                  <a:srgbClr val="1B2340"/>
                </a:solidFill>
                <a:latin typeface="Calibri" panose="020F0502020204030204" pitchFamily="34" charset="0"/>
                <a:ea typeface="Calibri" panose="020F0502020204030204" pitchFamily="34" charset="-122"/>
                <a:cs typeface="Calibri" panose="020F0502020204030204" pitchFamily="34" charset="-120"/>
              </a:rPr>
              <a:t>Wire the safe execution sandbox</a:t>
            </a:r>
            <a:endParaRPr lang="en-US" sz="1300" dirty="0"/>
          </a:p>
        </p:txBody>
      </p:sp>
      <p:sp>
        <p:nvSpPr>
          <p:cNvPr id="28" name="Text 26"/>
          <p:cNvSpPr/>
          <p:nvPr/>
        </p:nvSpPr>
        <p:spPr>
          <a:xfrm>
            <a:off x="4846320" y="5166360"/>
            <a:ext cx="6400800" cy="658368"/>
          </a:xfrm>
          <a:prstGeom prst="rect">
            <a:avLst/>
          </a:prstGeom>
          <a:noFill/>
        </p:spPr>
        <p:txBody>
          <a:bodyPr wrap="square" rtlCol="0" anchor="ctr"/>
          <a:lstStyle/>
          <a:p>
            <a:pPr marL="0" indent="0">
              <a:lnSpc>
                <a:spcPct val="115000"/>
              </a:lnSpc>
              <a:buNone/>
            </a:pPr>
            <a:r>
              <a:rPr lang="en-US" sz="1100" dirty="0">
                <a:solidFill>
                  <a:srgbClr val="5A6478"/>
                </a:solidFill>
                <a:latin typeface="Calibri" panose="020F0502020204030204" pitchFamily="34" charset="0"/>
                <a:ea typeface="Calibri" panose="020F0502020204030204" pitchFamily="34" charset="-122"/>
                <a:cs typeface="Calibri" panose="020F0502020204030204" pitchFamily="34" charset="-120"/>
              </a:rPr>
              <a:t>Generate the final response and apply an output filter for PII leakage or harmful content before it reaches the user.</a:t>
            </a:r>
            <a:endParaRPr lang="en-US" sz="1100" dirty="0"/>
          </a:p>
        </p:txBody>
      </p:sp>
      <p:sp>
        <p:nvSpPr>
          <p:cNvPr id="29" name="Shape 27"/>
          <p:cNvSpPr/>
          <p:nvPr/>
        </p:nvSpPr>
        <p:spPr>
          <a:xfrm>
            <a:off x="640080" y="5989320"/>
            <a:ext cx="10881360" cy="841248"/>
          </a:xfrm>
          <a:prstGeom prst="roundRect">
            <a:avLst>
              <a:gd name="adj" fmla="val 8696"/>
            </a:avLst>
          </a:prstGeom>
          <a:solidFill>
            <a:srgbClr val="EFF3FA"/>
          </a:solidFill>
        </p:spPr>
      </p:sp>
      <p:sp>
        <p:nvSpPr>
          <p:cNvPr id="30" name="Shape 28"/>
          <p:cNvSpPr/>
          <p:nvPr/>
        </p:nvSpPr>
        <p:spPr>
          <a:xfrm>
            <a:off x="841248" y="6190488"/>
            <a:ext cx="438912" cy="438912"/>
          </a:xfrm>
          <a:prstGeom prst="ellipse">
            <a:avLst/>
          </a:prstGeom>
          <a:solidFill>
            <a:srgbClr val="00A896"/>
          </a:solidFill>
        </p:spPr>
      </p:sp>
      <p:sp>
        <p:nvSpPr>
          <p:cNvPr id="31" name="Text 29"/>
          <p:cNvSpPr/>
          <p:nvPr/>
        </p:nvSpPr>
        <p:spPr>
          <a:xfrm>
            <a:off x="841248" y="6190488"/>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400" dirty="0"/>
          </a:p>
        </p:txBody>
      </p:sp>
      <p:sp>
        <p:nvSpPr>
          <p:cNvPr id="32" name="Text 30"/>
          <p:cNvSpPr/>
          <p:nvPr/>
        </p:nvSpPr>
        <p:spPr>
          <a:xfrm>
            <a:off x="1463040" y="6080760"/>
            <a:ext cx="3291840" cy="658368"/>
          </a:xfrm>
          <a:prstGeom prst="rect">
            <a:avLst/>
          </a:prstGeom>
          <a:noFill/>
        </p:spPr>
        <p:txBody>
          <a:bodyPr wrap="square" rtlCol="0" anchor="ctr"/>
          <a:lstStyle/>
          <a:p>
            <a:pPr marL="0" indent="0">
              <a:buNone/>
            </a:pPr>
            <a:r>
              <a:rPr lang="en-US" sz="1300" b="1" dirty="0">
                <a:solidFill>
                  <a:srgbClr val="1B2340"/>
                </a:solidFill>
                <a:latin typeface="Calibri" panose="020F0502020204030204" pitchFamily="34" charset="0"/>
                <a:ea typeface="Calibri" panose="020F0502020204030204" pitchFamily="34" charset="-122"/>
                <a:cs typeface="Calibri" panose="020F0502020204030204" pitchFamily="34" charset="-120"/>
              </a:rPr>
              <a:t>Wire the router logic</a:t>
            </a:r>
            <a:endParaRPr lang="en-US" sz="1300" dirty="0"/>
          </a:p>
        </p:txBody>
      </p:sp>
      <p:sp>
        <p:nvSpPr>
          <p:cNvPr id="33" name="Text 31"/>
          <p:cNvSpPr/>
          <p:nvPr/>
        </p:nvSpPr>
        <p:spPr>
          <a:xfrm>
            <a:off x="4846320" y="6080760"/>
            <a:ext cx="6400800" cy="658368"/>
          </a:xfrm>
          <a:prstGeom prst="rect">
            <a:avLst/>
          </a:prstGeom>
          <a:noFill/>
        </p:spPr>
        <p:txBody>
          <a:bodyPr wrap="square" rtlCol="0" anchor="ctr"/>
          <a:lstStyle/>
          <a:p>
            <a:pPr marL="0" indent="0">
              <a:lnSpc>
                <a:spcPct val="115000"/>
              </a:lnSpc>
              <a:buNone/>
            </a:pPr>
            <a:r>
              <a:rPr lang="en-US" sz="1100" dirty="0">
                <a:solidFill>
                  <a:srgbClr val="5A6478"/>
                </a:solidFill>
                <a:latin typeface="Calibri" panose="020F0502020204030204" pitchFamily="34" charset="0"/>
                <a:ea typeface="Calibri" panose="020F0502020204030204" pitchFamily="34" charset="-122"/>
                <a:cs typeface="Calibri" panose="020F0502020204030204" pitchFamily="34" charset="-120"/>
              </a:rPr>
              <a:t>Send safe prompts straight to the sandbox, route risky ones through the remediation loop, and log every routing decision for auditability.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3406</Words>
  <Application>WPS Presentation</Application>
  <PresentationFormat>On-screen Show (16:9)</PresentationFormat>
  <Paragraphs>137</Paragraphs>
  <Slides>4</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vt:i4>
      </vt:variant>
    </vt:vector>
  </HeadingPairs>
  <TitlesOfParts>
    <vt:vector size="16"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tharu</cp:lastModifiedBy>
  <cp:revision>2</cp:revision>
  <dcterms:created xsi:type="dcterms:W3CDTF">2026-08-02T09:28:00Z</dcterms:created>
  <dcterms:modified xsi:type="dcterms:W3CDTF">2026-08-02T09:36:37Z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0D49F840487C4FFD96FE74E11709ABE5_12</vt:lpwstr>
  </property>
  <property fmtid="{D5CDD505-2E9C-101B-9397-08002B2CF9AE}" pid="3" name="KSOProductBuildVer">
    <vt:lpwstr>1033-12.1.0.28032</vt:lpwstr>
  </property>
</Properties>
</file>